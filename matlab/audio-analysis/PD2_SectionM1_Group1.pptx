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1, Section M1. This is our PD2 presentation: analysis of Code1 applied to AudioA — how the code works, the results it produces, and why the filter stage behaves the way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Abdulrahman: PD2 covers Part 2 of the project — we were given Code1 and AudioA. Objectives: understand what each block of the code does, run it on the audio file, present the plots, and explain why the results look the way they do — especially the filter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Abdulrahman: Success means every plot is presented and explained, and the filter behavior is diagnosed with evidence. Constraints: we must use the given Code1 unmodified, the assigned AudioA file, and MATLAB.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Abdulrahman: The code is a straight pipeline: read the audio, plot it in time, FFT with fftshift to get the two-sided spectrum, design the low-pass filter with butter, inspect it with freqz, apply it with filter, and plot the filtered spectrum. The decision at the end is the question we investigate: did the filter behave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Nasser: The recording is about 1.6 seconds of speech — five distinct bursts, each burst a word or syllable, separated by near-silence. Amplitude is normalized within ±1. This is what we expect from a clean speech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Nasser: The two-sided spectrum from fftshift is symmetric around 0 Hz, as it must be for a real signal. Energy is concentrated below about 8 kHz — typical for speech. The axis extends to ±24 kHz, which is Fs/2: the Nyquist frequency. Since the content stops well below 24 kHz, sampling at 48 kHz satisfies the sampling theorem with a wide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Nasser: freqz shows the designed filter's response — and it is the first warning sign. A healthy low-pass filter shows a flat 0 dB passband, then a roll-off. Here there is no flat passband at all: magnitude starts falling immediately and drops hundreds of dB. The phase plot is equally distorted. The filter as designed does not look like a usable low-pass filter — Ahmed will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After applying the filter, the spectrum shows amplitudes around 10 to the power 287 — astronomically large, close to the largest number a computer can represent. A filter can only attenuate or slightly amplify; it can never multiply a signal by 10^287. This is not a signal anymore — it is numerical divergence. The filter is unstable in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The root cause is one line. The normalized cutoff is 0.02 times 8000 over 24000 — about 0.0067, i.e. 160 Hz out of a 24 kHz range. A 9th-order Butterworth at such an extremely narrow cutoff places all nine poles crowded just inside z = 1. In transfer-function form the polynomial coefficients become so ill-conditioned that rounding errors push poles outside the unit circle — the recursion diverges. This is a known numerical limitation, not an Octave or MATLAB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 Three practical fixes. First, use second-order sections — butter with the 'sos' output stays numerically stable at any order. Second, reduce the order: a 2nd or 3rd order filter at the same cutoff is stable even in TF form. Third, question the cutoff itself: if the goal is to keep speech, the cutoff should sit near the top of the speech band, e.g. 3–4 kHz, not 160 Hz. Good filter choice means matching type, order, cutoff AND implementation form to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Each member takes one card. Keep it specific — what this part of the project actually taught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Recap — the code's analysis stages work correctly and confirm the sampling theorem; the filter stage fails because a 9th-order Butterworth at a 0.0067π cutoff is numerically unstable in transfer-function form; the fix is SOS form, lower order, or a sensible cutoff. Future work: apply the corrected filter and compare audio quality.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8B1D2C"/>
          </a:solidFill>
          <a:ln/>
        </p:spPr>
      </p:sp>
      <p:sp>
        <p:nvSpPr>
          <p:cNvPr id="3" name="Text 1"/>
          <p:cNvSpPr/>
          <p:nvPr/>
        </p:nvSpPr>
        <p:spPr>
          <a:xfrm>
            <a:off x="1238250" y="2281238"/>
            <a:ext cx="17392650" cy="381000"/>
          </a:xfrm>
          <a:prstGeom prst="rect">
            <a:avLst/>
          </a:prstGeom>
          <a:noFill/>
          <a:ln/>
        </p:spPr>
        <p:txBody>
          <a:bodyPr wrap="square" lIns="25400" tIns="25400" rIns="25400" bIns="25400" rtlCol="0" anchor="t">
            <a:normAutofit/>
          </a:bodyPr>
          <a:lstStyle/>
          <a:p>
            <a:pPr algn="l" indent="0" marL="0">
              <a:buNone/>
            </a:pPr>
            <a:r>
              <a:rPr lang="en-US" sz="2250" b="1" spc="225" kern="0" dirty="0">
                <a:solidFill>
                  <a:srgbClr val="8B1D2C"/>
                </a:solidFill>
                <a:latin typeface="Arial" pitchFamily="34" charset="0"/>
                <a:ea typeface="Arial" pitchFamily="34" charset="-122"/>
                <a:cs typeface="Arial" pitchFamily="34" charset="-120"/>
              </a:rPr>
              <a:t>EE-CE 301 · SIGNALS AND SYSTEMS · SUMMER 2026</a:t>
            </a:r>
            <a:endParaRPr lang="en-US" sz="2250" dirty="0"/>
          </a:p>
        </p:txBody>
      </p:sp>
      <p:sp>
        <p:nvSpPr>
          <p:cNvPr id="4" name="Text 2"/>
          <p:cNvSpPr/>
          <p:nvPr/>
        </p:nvSpPr>
        <p:spPr>
          <a:xfrm>
            <a:off x="1238250" y="2967038"/>
            <a:ext cx="14716125" cy="2924175"/>
          </a:xfrm>
          <a:prstGeom prst="rect">
            <a:avLst/>
          </a:prstGeom>
          <a:noFill/>
          <a:ln/>
        </p:spPr>
        <p:txBody>
          <a:bodyPr wrap="square" lIns="25400" tIns="25400" rIns="25400" bIns="25400" rtlCol="0" anchor="t">
            <a:normAutofit/>
          </a:bodyPr>
          <a:lstStyle/>
          <a:p>
            <a:pPr algn="l" indent="0" marL="0">
              <a:lnSpc>
                <a:spcPct val="110000"/>
              </a:lnSpc>
              <a:buNone/>
            </a:pPr>
            <a:r>
              <a:rPr lang="en-US" sz="6900" b="1" dirty="0">
                <a:solidFill>
                  <a:srgbClr val="1D1D22"/>
                </a:solidFill>
                <a:latin typeface="Georgia" pitchFamily="34" charset="0"/>
                <a:ea typeface="Georgia" pitchFamily="34" charset="-122"/>
                <a:cs typeface="Georgia" pitchFamily="34" charset="-120"/>
              </a:rPr>
              <a:t>PD2 — Audio Signal Processing: Code Analysis &amp; Results</a:t>
            </a:r>
            <a:endParaRPr lang="en-US" sz="6900" dirty="0"/>
          </a:p>
        </p:txBody>
      </p:sp>
      <p:sp>
        <p:nvSpPr>
          <p:cNvPr id="5" name="Text 3"/>
          <p:cNvSpPr/>
          <p:nvPr/>
        </p:nvSpPr>
        <p:spPr>
          <a:xfrm>
            <a:off x="1238250" y="6196013"/>
            <a:ext cx="17392650" cy="428625"/>
          </a:xfrm>
          <a:prstGeom prst="rect">
            <a:avLst/>
          </a:prstGeom>
          <a:noFill/>
          <a:ln/>
        </p:spPr>
        <p:txBody>
          <a:bodyPr wrap="square" lIns="25400" tIns="25400" rIns="25400" bIns="25400" rtlCol="0" anchor="t">
            <a:normAutofit/>
          </a:bodyPr>
          <a:lstStyle/>
          <a:p>
            <a:pPr algn="l" indent="0" marL="0">
              <a:buNone/>
            </a:pPr>
            <a:r>
              <a:rPr lang="en-US" sz="2550" dirty="0">
                <a:solidFill>
                  <a:srgbClr val="55555E"/>
                </a:solidFill>
                <a:latin typeface="Arial" pitchFamily="34" charset="0"/>
                <a:ea typeface="Arial" pitchFamily="34" charset="-122"/>
                <a:cs typeface="Arial" pitchFamily="34" charset="-120"/>
              </a:rPr>
              <a:t>Running Code1 on AudioA: sampling, spectrum analysis, and investigating filter choice</a:t>
            </a:r>
            <a:endParaRPr lang="en-US" sz="2550" dirty="0"/>
          </a:p>
        </p:txBody>
      </p:sp>
      <p:sp>
        <p:nvSpPr>
          <p:cNvPr id="6" name="Text 4"/>
          <p:cNvSpPr/>
          <p:nvPr/>
        </p:nvSpPr>
        <p:spPr>
          <a:xfrm>
            <a:off x="1238250" y="8734425"/>
            <a:ext cx="8826639"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SECTION M1 · GROUP 1</a:t>
            </a:r>
            <a:endParaRPr lang="en-US" sz="1800" dirty="0"/>
          </a:p>
        </p:txBody>
      </p:sp>
      <p:sp>
        <p:nvSpPr>
          <p:cNvPr id="7" name="Text 5"/>
          <p:cNvSpPr/>
          <p:nvPr/>
        </p:nvSpPr>
        <p:spPr>
          <a:xfrm>
            <a:off x="1238250" y="9086850"/>
            <a:ext cx="3372773"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D1D22"/>
                </a:solidFill>
                <a:latin typeface="Arial" pitchFamily="34" charset="0"/>
                <a:ea typeface="Arial" pitchFamily="34" charset="-122"/>
                <a:cs typeface="Arial" pitchFamily="34" charset="-120"/>
              </a:rPr>
              <a:t>Abdulrahman Shabkouh</a:t>
            </a:r>
            <a:endParaRPr lang="en-US" sz="2250" dirty="0"/>
          </a:p>
        </p:txBody>
      </p:sp>
      <p:sp>
        <p:nvSpPr>
          <p:cNvPr id="8" name="Text 6"/>
          <p:cNvSpPr/>
          <p:nvPr/>
        </p:nvSpPr>
        <p:spPr>
          <a:xfrm>
            <a:off x="4837807" y="9086850"/>
            <a:ext cx="2096319"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D1D22"/>
                </a:solidFill>
                <a:latin typeface="Arial" pitchFamily="34" charset="0"/>
                <a:ea typeface="Arial" pitchFamily="34" charset="-122"/>
                <a:cs typeface="Arial" pitchFamily="34" charset="-120"/>
              </a:rPr>
              <a:t>Nasser AlQinai</a:t>
            </a:r>
            <a:endParaRPr lang="en-US" sz="2250" dirty="0"/>
          </a:p>
        </p:txBody>
      </p:sp>
      <p:sp>
        <p:nvSpPr>
          <p:cNvPr id="9" name="Text 7"/>
          <p:cNvSpPr/>
          <p:nvPr/>
        </p:nvSpPr>
        <p:spPr>
          <a:xfrm>
            <a:off x="7276951" y="9086850"/>
            <a:ext cx="2184068" cy="381000"/>
          </a:xfrm>
          <a:prstGeom prst="rect">
            <a:avLst/>
          </a:prstGeom>
          <a:noFill/>
          <a:ln/>
        </p:spPr>
        <p:txBody>
          <a:bodyPr wrap="square" lIns="25400" tIns="25400" rIns="25400" bIns="25400" rtlCol="0" anchor="t">
            <a:normAutofit/>
          </a:bodyPr>
          <a:lstStyle/>
          <a:p>
            <a:pPr algn="l" indent="0" marL="0">
              <a:buNone/>
            </a:pPr>
            <a:r>
              <a:rPr lang="en-US" sz="2250" dirty="0">
                <a:solidFill>
                  <a:srgbClr val="1D1D22"/>
                </a:solidFill>
                <a:latin typeface="Arial" pitchFamily="34" charset="0"/>
                <a:ea typeface="Arial" pitchFamily="34" charset="-122"/>
                <a:cs typeface="Arial" pitchFamily="34" charset="-120"/>
              </a:rPr>
              <a:t>Ahmed AlHabib</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INTRODUCTION</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Introduction and Objectives</a:t>
            </a:r>
            <a:endParaRPr lang="en-US" sz="4500" dirty="0"/>
          </a:p>
        </p:txBody>
      </p:sp>
      <p:sp>
        <p:nvSpPr>
          <p:cNvPr id="4" name="Shape 2"/>
          <p:cNvSpPr/>
          <p:nvPr/>
        </p:nvSpPr>
        <p:spPr>
          <a:xfrm>
            <a:off x="1047750" y="4062412"/>
            <a:ext cx="5118050" cy="47625"/>
          </a:xfrm>
          <a:prstGeom prst="rect">
            <a:avLst/>
          </a:prstGeom>
          <a:solidFill>
            <a:srgbClr val="8B1D2C"/>
          </a:solidFill>
          <a:ln/>
        </p:spPr>
      </p:sp>
      <p:sp>
        <p:nvSpPr>
          <p:cNvPr id="5" name="Text 3"/>
          <p:cNvSpPr/>
          <p:nvPr/>
        </p:nvSpPr>
        <p:spPr>
          <a:xfrm>
            <a:off x="1047750" y="4376738"/>
            <a:ext cx="5629855"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8B1D2C"/>
                </a:solidFill>
                <a:latin typeface="Georgia" pitchFamily="34" charset="0"/>
                <a:ea typeface="Georgia" pitchFamily="34" charset="-122"/>
                <a:cs typeface="Georgia" pitchFamily="34" charset="-120"/>
              </a:rPr>
              <a:t>1</a:t>
            </a:r>
            <a:endParaRPr lang="en-US" sz="4200" dirty="0"/>
          </a:p>
        </p:txBody>
      </p:sp>
      <p:sp>
        <p:nvSpPr>
          <p:cNvPr id="6" name="Text 4"/>
          <p:cNvSpPr/>
          <p:nvPr/>
        </p:nvSpPr>
        <p:spPr>
          <a:xfrm>
            <a:off x="1047750" y="5167313"/>
            <a:ext cx="562985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D1D22"/>
                </a:solidFill>
                <a:latin typeface="Arial" pitchFamily="34" charset="0"/>
                <a:ea typeface="Arial" pitchFamily="34" charset="-122"/>
                <a:cs typeface="Arial" pitchFamily="34" charset="-120"/>
              </a:rPr>
              <a:t>Understand the code</a:t>
            </a:r>
            <a:endParaRPr lang="en-US" sz="2550" dirty="0"/>
          </a:p>
        </p:txBody>
      </p:sp>
      <p:sp>
        <p:nvSpPr>
          <p:cNvPr id="7" name="Text 5"/>
          <p:cNvSpPr/>
          <p:nvPr/>
        </p:nvSpPr>
        <p:spPr>
          <a:xfrm>
            <a:off x="1047750" y="5729288"/>
            <a:ext cx="5271592"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4444C"/>
                </a:solidFill>
                <a:latin typeface="Arial" pitchFamily="34" charset="0"/>
                <a:ea typeface="Arial" pitchFamily="34" charset="-122"/>
                <a:cs typeface="Arial" pitchFamily="34" charset="-120"/>
              </a:rPr>
              <a:t>Analyze Code1 block by block: audio import, time-domain plot, FFT spectrum, low-pass filter design, and filtering.</a:t>
            </a:r>
            <a:endParaRPr lang="en-US" sz="2250" dirty="0"/>
          </a:p>
        </p:txBody>
      </p:sp>
      <p:sp>
        <p:nvSpPr>
          <p:cNvPr id="8" name="Shape 6"/>
          <p:cNvSpPr/>
          <p:nvPr/>
        </p:nvSpPr>
        <p:spPr>
          <a:xfrm>
            <a:off x="6584900" y="4062412"/>
            <a:ext cx="5118050" cy="47625"/>
          </a:xfrm>
          <a:prstGeom prst="rect">
            <a:avLst/>
          </a:prstGeom>
          <a:solidFill>
            <a:srgbClr val="8B1D2C"/>
          </a:solidFill>
          <a:ln/>
        </p:spPr>
      </p:sp>
      <p:sp>
        <p:nvSpPr>
          <p:cNvPr id="9" name="Text 7"/>
          <p:cNvSpPr/>
          <p:nvPr/>
        </p:nvSpPr>
        <p:spPr>
          <a:xfrm>
            <a:off x="6584900" y="4376738"/>
            <a:ext cx="5629855"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8B1D2C"/>
                </a:solidFill>
                <a:latin typeface="Georgia" pitchFamily="34" charset="0"/>
                <a:ea typeface="Georgia" pitchFamily="34" charset="-122"/>
                <a:cs typeface="Georgia" pitchFamily="34" charset="-120"/>
              </a:rPr>
              <a:t>2</a:t>
            </a:r>
            <a:endParaRPr lang="en-US" sz="4200" dirty="0"/>
          </a:p>
        </p:txBody>
      </p:sp>
      <p:sp>
        <p:nvSpPr>
          <p:cNvPr id="10" name="Text 8"/>
          <p:cNvSpPr/>
          <p:nvPr/>
        </p:nvSpPr>
        <p:spPr>
          <a:xfrm>
            <a:off x="6584900" y="5167313"/>
            <a:ext cx="562985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D1D22"/>
                </a:solidFill>
                <a:latin typeface="Arial" pitchFamily="34" charset="0"/>
                <a:ea typeface="Arial" pitchFamily="34" charset="-122"/>
                <a:cs typeface="Arial" pitchFamily="34" charset="-120"/>
              </a:rPr>
              <a:t>Run it on AudioA</a:t>
            </a:r>
            <a:endParaRPr lang="en-US" sz="2550" dirty="0"/>
          </a:p>
        </p:txBody>
      </p:sp>
      <p:sp>
        <p:nvSpPr>
          <p:cNvPr id="11" name="Text 9"/>
          <p:cNvSpPr/>
          <p:nvPr/>
        </p:nvSpPr>
        <p:spPr>
          <a:xfrm>
            <a:off x="6584900" y="5729288"/>
            <a:ext cx="5271592"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4444C"/>
                </a:solidFill>
                <a:latin typeface="Arial" pitchFamily="34" charset="0"/>
                <a:ea typeface="Arial" pitchFamily="34" charset="-122"/>
                <a:cs typeface="Arial" pitchFamily="34" charset="-120"/>
              </a:rPr>
              <a:t>Execute the code on the assigned recording (Fs = 48 kHz) and present the four plots it produces.</a:t>
            </a:r>
            <a:endParaRPr lang="en-US" sz="2250" dirty="0"/>
          </a:p>
        </p:txBody>
      </p:sp>
      <p:sp>
        <p:nvSpPr>
          <p:cNvPr id="12" name="Shape 10"/>
          <p:cNvSpPr/>
          <p:nvPr/>
        </p:nvSpPr>
        <p:spPr>
          <a:xfrm>
            <a:off x="12122051" y="4062412"/>
            <a:ext cx="5118199" cy="47625"/>
          </a:xfrm>
          <a:prstGeom prst="rect">
            <a:avLst/>
          </a:prstGeom>
          <a:solidFill>
            <a:srgbClr val="8B1D2C"/>
          </a:solidFill>
          <a:ln/>
        </p:spPr>
      </p:sp>
      <p:sp>
        <p:nvSpPr>
          <p:cNvPr id="13" name="Text 11"/>
          <p:cNvSpPr/>
          <p:nvPr/>
        </p:nvSpPr>
        <p:spPr>
          <a:xfrm>
            <a:off x="12122051" y="4376738"/>
            <a:ext cx="5630019"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8B1D2C"/>
                </a:solidFill>
                <a:latin typeface="Georgia" pitchFamily="34" charset="0"/>
                <a:ea typeface="Georgia" pitchFamily="34" charset="-122"/>
                <a:cs typeface="Georgia" pitchFamily="34" charset="-120"/>
              </a:rPr>
              <a:t>3</a:t>
            </a:r>
            <a:endParaRPr lang="en-US" sz="4200" dirty="0"/>
          </a:p>
        </p:txBody>
      </p:sp>
      <p:sp>
        <p:nvSpPr>
          <p:cNvPr id="14" name="Text 12"/>
          <p:cNvSpPr/>
          <p:nvPr/>
        </p:nvSpPr>
        <p:spPr>
          <a:xfrm>
            <a:off x="12122051" y="5167313"/>
            <a:ext cx="5630019"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D1D22"/>
                </a:solidFill>
                <a:latin typeface="Arial" pitchFamily="34" charset="0"/>
                <a:ea typeface="Arial" pitchFamily="34" charset="-122"/>
                <a:cs typeface="Arial" pitchFamily="34" charset="-120"/>
              </a:rPr>
              <a:t>Explain the results</a:t>
            </a:r>
            <a:endParaRPr lang="en-US" sz="2550" dirty="0"/>
          </a:p>
        </p:txBody>
      </p:sp>
      <p:sp>
        <p:nvSpPr>
          <p:cNvPr id="15" name="Text 13"/>
          <p:cNvSpPr/>
          <p:nvPr/>
        </p:nvSpPr>
        <p:spPr>
          <a:xfrm>
            <a:off x="12122051" y="5729288"/>
            <a:ext cx="5271745"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44444C"/>
                </a:solidFill>
                <a:latin typeface="Arial" pitchFamily="34" charset="0"/>
                <a:ea typeface="Arial" pitchFamily="34" charset="-122"/>
                <a:cs typeface="Arial" pitchFamily="34" charset="-120"/>
              </a:rPr>
              <a:t>Interpret each plot and investigate whether the given filter is a good choice — and why the output shows it is not.</a:t>
            </a:r>
            <a:endParaRPr lang="en-US" sz="2250" dirty="0"/>
          </a:p>
        </p:txBody>
      </p:sp>
      <p:sp>
        <p:nvSpPr>
          <p:cNvPr id="16" name="Shape 14"/>
          <p:cNvSpPr/>
          <p:nvPr/>
        </p:nvSpPr>
        <p:spPr>
          <a:xfrm>
            <a:off x="1047750" y="9182100"/>
            <a:ext cx="47625" cy="342900"/>
          </a:xfrm>
          <a:prstGeom prst="rect">
            <a:avLst/>
          </a:prstGeom>
          <a:solidFill>
            <a:srgbClr val="D8D8DD"/>
          </a:solidFill>
          <a:ln/>
        </p:spPr>
      </p:sp>
      <p:sp>
        <p:nvSpPr>
          <p:cNvPr id="17" name="Text 15"/>
          <p:cNvSpPr/>
          <p:nvPr/>
        </p:nvSpPr>
        <p:spPr>
          <a:xfrm>
            <a:off x="1343025" y="9182100"/>
            <a:ext cx="1751647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44444C"/>
                </a:solidFill>
                <a:latin typeface="Arial" pitchFamily="34" charset="0"/>
                <a:ea typeface="Arial" pitchFamily="34" charset="-122"/>
                <a:cs typeface="Arial" pitchFamily="34" charset="-120"/>
              </a:rPr>
              <a:t>The key learning goal: a filter can be mathematically defined yet fail in practice — good filter choice matters.</a:t>
            </a:r>
            <a:endParaRPr lang="en-US" sz="2250" dirty="0"/>
          </a:p>
        </p:txBody>
      </p:sp>
      <p:sp>
        <p:nvSpPr>
          <p:cNvPr id="18" name="Text 16"/>
          <p:cNvSpPr/>
          <p:nvPr/>
        </p:nvSpPr>
        <p:spPr>
          <a:xfrm>
            <a:off x="1047750" y="9772650"/>
            <a:ext cx="3600822"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Abdulrahman Shabkouh</a:t>
            </a:r>
            <a:endParaRPr lang="en-US" sz="1650" dirty="0"/>
          </a:p>
        </p:txBody>
      </p:sp>
      <p:sp>
        <p:nvSpPr>
          <p:cNvPr id="19" name="Text 17"/>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2</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REQUIREMENTS</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Criteria and Constraints</a:t>
            </a:r>
            <a:endParaRPr lang="en-US" sz="4500" dirty="0"/>
          </a:p>
        </p:txBody>
      </p:sp>
      <p:sp>
        <p:nvSpPr>
          <p:cNvPr id="4" name="Text 2"/>
          <p:cNvSpPr/>
          <p:nvPr/>
        </p:nvSpPr>
        <p:spPr>
          <a:xfrm>
            <a:off x="1047750" y="4052888"/>
            <a:ext cx="8539163"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8B1D2C"/>
                </a:solidFill>
                <a:latin typeface="Arial" pitchFamily="34" charset="0"/>
                <a:ea typeface="Arial" pitchFamily="34" charset="-122"/>
                <a:cs typeface="Arial" pitchFamily="34" charset="-120"/>
              </a:rPr>
              <a:t>Criteria — what success looks like</a:t>
            </a:r>
            <a:endParaRPr lang="en-US" sz="2550" dirty="0"/>
          </a:p>
        </p:txBody>
      </p:sp>
      <p:sp>
        <p:nvSpPr>
          <p:cNvPr id="5" name="Text 3"/>
          <p:cNvSpPr/>
          <p:nvPr/>
        </p:nvSpPr>
        <p:spPr>
          <a:xfrm>
            <a:off x="1047750" y="4691063"/>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6" name="Text 4"/>
          <p:cNvSpPr/>
          <p:nvPr/>
        </p:nvSpPr>
        <p:spPr>
          <a:xfrm>
            <a:off x="1504950" y="4691063"/>
            <a:ext cx="7565901"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Every stage of Code1 explained: what it does and why</a:t>
            </a:r>
            <a:endParaRPr lang="en-US" sz="2250" dirty="0"/>
          </a:p>
        </p:txBody>
      </p:sp>
      <p:sp>
        <p:nvSpPr>
          <p:cNvPr id="7" name="Text 5"/>
          <p:cNvSpPr/>
          <p:nvPr/>
        </p:nvSpPr>
        <p:spPr>
          <a:xfrm>
            <a:off x="1047750" y="5310188"/>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8" name="Text 6"/>
          <p:cNvSpPr/>
          <p:nvPr/>
        </p:nvSpPr>
        <p:spPr>
          <a:xfrm>
            <a:off x="1504950" y="5310188"/>
            <a:ext cx="7792477"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All four output plots presented with correct interpretation</a:t>
            </a:r>
            <a:endParaRPr lang="en-US" sz="2250" dirty="0"/>
          </a:p>
        </p:txBody>
      </p:sp>
      <p:sp>
        <p:nvSpPr>
          <p:cNvPr id="9" name="Text 7"/>
          <p:cNvSpPr/>
          <p:nvPr/>
        </p:nvSpPr>
        <p:spPr>
          <a:xfrm>
            <a:off x="1047750" y="5929313"/>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0" name="Text 8"/>
          <p:cNvSpPr/>
          <p:nvPr/>
        </p:nvSpPr>
        <p:spPr>
          <a:xfrm>
            <a:off x="1504950" y="5929313"/>
            <a:ext cx="7093104"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Filter quality assessed with evidence from the plots</a:t>
            </a:r>
            <a:endParaRPr lang="en-US" sz="2250" dirty="0"/>
          </a:p>
        </p:txBody>
      </p:sp>
      <p:sp>
        <p:nvSpPr>
          <p:cNvPr id="11" name="Text 9"/>
          <p:cNvSpPr/>
          <p:nvPr/>
        </p:nvSpPr>
        <p:spPr>
          <a:xfrm>
            <a:off x="1047750" y="6548438"/>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2" name="Text 10"/>
          <p:cNvSpPr/>
          <p:nvPr/>
        </p:nvSpPr>
        <p:spPr>
          <a:xfrm>
            <a:off x="1504950" y="6548438"/>
            <a:ext cx="6570375"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The failure mode diagnosed and a fix proposed</a:t>
            </a:r>
            <a:endParaRPr lang="en-US" sz="2250" dirty="0"/>
          </a:p>
        </p:txBody>
      </p:sp>
      <p:sp>
        <p:nvSpPr>
          <p:cNvPr id="13" name="Text 11"/>
          <p:cNvSpPr/>
          <p:nvPr/>
        </p:nvSpPr>
        <p:spPr>
          <a:xfrm>
            <a:off x="9477375" y="4052888"/>
            <a:ext cx="8539163"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8B1D2C"/>
                </a:solidFill>
                <a:latin typeface="Arial" pitchFamily="34" charset="0"/>
                <a:ea typeface="Arial" pitchFamily="34" charset="-122"/>
                <a:cs typeface="Arial" pitchFamily="34" charset="-120"/>
              </a:rPr>
              <a:t>Constraints — what we must work within</a:t>
            </a:r>
            <a:endParaRPr lang="en-US" sz="2550" dirty="0"/>
          </a:p>
        </p:txBody>
      </p:sp>
      <p:sp>
        <p:nvSpPr>
          <p:cNvPr id="14" name="Text 12"/>
          <p:cNvSpPr/>
          <p:nvPr/>
        </p:nvSpPr>
        <p:spPr>
          <a:xfrm>
            <a:off x="9477375" y="4691063"/>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5" name="Text 13"/>
          <p:cNvSpPr/>
          <p:nvPr/>
        </p:nvSpPr>
        <p:spPr>
          <a:xfrm>
            <a:off x="9934575" y="4691063"/>
            <a:ext cx="7076733"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Assigned code: Code1 — run as given, unmodified</a:t>
            </a:r>
            <a:endParaRPr lang="en-US" sz="2250" dirty="0"/>
          </a:p>
        </p:txBody>
      </p:sp>
      <p:sp>
        <p:nvSpPr>
          <p:cNvPr id="16" name="Text 14"/>
          <p:cNvSpPr/>
          <p:nvPr/>
        </p:nvSpPr>
        <p:spPr>
          <a:xfrm>
            <a:off x="9477375" y="5310188"/>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7" name="Text 15"/>
          <p:cNvSpPr/>
          <p:nvPr/>
        </p:nvSpPr>
        <p:spPr>
          <a:xfrm>
            <a:off x="9934575" y="5310188"/>
            <a:ext cx="6822981"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Assigned audio: AudioA, sampled at Fs = 48 kHz</a:t>
            </a:r>
            <a:endParaRPr lang="en-US" sz="2250" dirty="0"/>
          </a:p>
        </p:txBody>
      </p:sp>
      <p:sp>
        <p:nvSpPr>
          <p:cNvPr id="18" name="Text 16"/>
          <p:cNvSpPr/>
          <p:nvPr/>
        </p:nvSpPr>
        <p:spPr>
          <a:xfrm>
            <a:off x="9477375" y="5929313"/>
            <a:ext cx="361950" cy="857250"/>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9" name="Text 17"/>
          <p:cNvSpPr/>
          <p:nvPr/>
        </p:nvSpPr>
        <p:spPr>
          <a:xfrm>
            <a:off x="9934575" y="5929313"/>
            <a:ext cx="7524845" cy="8572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Filter parameters fixed by the code: 9th-order Butterworth, cutoff 0.02·fmax with fmax = 8000 Hz</a:t>
            </a:r>
            <a:endParaRPr lang="en-US" sz="2250" dirty="0"/>
          </a:p>
        </p:txBody>
      </p:sp>
      <p:sp>
        <p:nvSpPr>
          <p:cNvPr id="20" name="Text 18"/>
          <p:cNvSpPr/>
          <p:nvPr/>
        </p:nvSpPr>
        <p:spPr>
          <a:xfrm>
            <a:off x="9477375" y="6958013"/>
            <a:ext cx="361950"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21" name="Text 19"/>
          <p:cNvSpPr/>
          <p:nvPr/>
        </p:nvSpPr>
        <p:spPr>
          <a:xfrm>
            <a:off x="9934575" y="6958013"/>
            <a:ext cx="5497413" cy="4476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3333A"/>
                </a:solidFill>
                <a:latin typeface="Arial" pitchFamily="34" charset="0"/>
                <a:ea typeface="Arial" pitchFamily="34" charset="-122"/>
                <a:cs typeface="Arial" pitchFamily="34" charset="-120"/>
              </a:rPr>
              <a:t>MATLAB as the simulation environment</a:t>
            </a:r>
            <a:endParaRPr lang="en-US" sz="2250" dirty="0"/>
          </a:p>
        </p:txBody>
      </p:sp>
      <p:sp>
        <p:nvSpPr>
          <p:cNvPr id="22" name="Text 20"/>
          <p:cNvSpPr/>
          <p:nvPr/>
        </p:nvSpPr>
        <p:spPr>
          <a:xfrm>
            <a:off x="1047750" y="9772650"/>
            <a:ext cx="3600822"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Abdulrahman Shabkouh</a:t>
            </a:r>
            <a:endParaRPr lang="en-US" sz="1650" dirty="0"/>
          </a:p>
        </p:txBody>
      </p:sp>
      <p:sp>
        <p:nvSpPr>
          <p:cNvPr id="23" name="Text 21"/>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3</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3"/>
        </a:solidFill>
      </p:bgPr>
    </p:bg>
    <p:spTree>
      <p:nvGrpSpPr>
        <p:cNvPr id="1" name=""/>
        <p:cNvGrpSpPr/>
        <p:nvPr/>
      </p:nvGrpSpPr>
      <p:grpSpPr>
        <a:xfrm>
          <a:off x="0" y="0"/>
          <a:ext cx="0" cy="0"/>
          <a:chOff x="0" y="0"/>
          <a:chExt cx="0" cy="0"/>
        </a:xfrm>
      </p:grpSpPr>
      <p:sp>
        <p:nvSpPr>
          <p:cNvPr id="2" name="Text 0"/>
          <p:cNvSpPr/>
          <p:nvPr/>
        </p:nvSpPr>
        <p:spPr>
          <a:xfrm>
            <a:off x="1047750" y="762000"/>
            <a:ext cx="5386581"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CODE STRUCTURE</a:t>
            </a:r>
            <a:endParaRPr lang="en-US" sz="1800" dirty="0"/>
          </a:p>
        </p:txBody>
      </p:sp>
      <p:sp>
        <p:nvSpPr>
          <p:cNvPr id="3" name="Text 1"/>
          <p:cNvSpPr/>
          <p:nvPr/>
        </p:nvSpPr>
        <p:spPr>
          <a:xfrm>
            <a:off x="1047750" y="1133475"/>
            <a:ext cx="5386581"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Code1 Flowchart</a:t>
            </a:r>
            <a:endParaRPr lang="en-US" sz="4500" dirty="0"/>
          </a:p>
        </p:txBody>
      </p:sp>
      <p:sp>
        <p:nvSpPr>
          <p:cNvPr id="4" name="Shape 2"/>
          <p:cNvSpPr/>
          <p:nvPr/>
        </p:nvSpPr>
        <p:spPr>
          <a:xfrm>
            <a:off x="12171164" y="1447800"/>
            <a:ext cx="381000" cy="266700"/>
          </a:xfrm>
          <a:prstGeom prst="rect">
            <a:avLst/>
          </a:prstGeom>
          <a:solidFill>
            <a:srgbClr val="FFFFFF"/>
          </a:solidFill>
          <a:ln w="28575">
            <a:solidFill>
              <a:srgbClr val="1D1D22"/>
            </a:solidFill>
            <a:prstDash val="solid"/>
          </a:ln>
        </p:spPr>
      </p:sp>
      <p:sp>
        <p:nvSpPr>
          <p:cNvPr id="5" name="Text 3"/>
          <p:cNvSpPr/>
          <p:nvPr/>
        </p:nvSpPr>
        <p:spPr>
          <a:xfrm>
            <a:off x="12647414" y="1443038"/>
            <a:ext cx="902047"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E"/>
                </a:solidFill>
                <a:latin typeface="Arial" pitchFamily="34" charset="0"/>
                <a:ea typeface="Arial" pitchFamily="34" charset="-122"/>
                <a:cs typeface="Arial" pitchFamily="34" charset="-120"/>
              </a:rPr>
              <a:t>Process</a:t>
            </a:r>
            <a:endParaRPr lang="en-US" sz="1800" dirty="0"/>
          </a:p>
        </p:txBody>
      </p:sp>
      <p:sp>
        <p:nvSpPr>
          <p:cNvPr id="6" name="Shape 4"/>
          <p:cNvSpPr/>
          <p:nvPr/>
        </p:nvSpPr>
        <p:spPr>
          <a:xfrm>
            <a:off x="13753784" y="1447800"/>
            <a:ext cx="467655" cy="266700"/>
          </a:xfrm>
          <a:prstGeom prst="rect">
            <a:avLst/>
          </a:prstGeom>
          <a:solidFill>
            <a:srgbClr val="FFFFFF"/>
          </a:solidFill>
          <a:ln/>
        </p:spPr>
      </p:sp>
      <p:sp>
        <p:nvSpPr>
          <p:cNvPr id="7" name="Shape 5"/>
          <p:cNvSpPr/>
          <p:nvPr/>
        </p:nvSpPr>
        <p:spPr>
          <a:xfrm>
            <a:off x="13753784" y="1684454"/>
            <a:ext cx="467655" cy="30046"/>
          </a:xfrm>
          <a:prstGeom prst="rect">
            <a:avLst/>
          </a:prstGeom>
          <a:solidFill>
            <a:srgbClr val="1D1D22"/>
          </a:solidFill>
          <a:ln/>
        </p:spPr>
      </p:sp>
      <p:sp>
        <p:nvSpPr>
          <p:cNvPr id="8" name="Shape 6"/>
          <p:cNvSpPr/>
          <p:nvPr/>
        </p:nvSpPr>
        <p:spPr>
          <a:xfrm>
            <a:off x="13753784" y="1447800"/>
            <a:ext cx="467655" cy="30046"/>
          </a:xfrm>
          <a:prstGeom prst="rect">
            <a:avLst/>
          </a:prstGeom>
          <a:solidFill>
            <a:srgbClr val="1D1D22"/>
          </a:solidFill>
          <a:ln/>
        </p:spPr>
      </p:sp>
      <p:sp>
        <p:nvSpPr>
          <p:cNvPr id="9" name="Shape 7"/>
          <p:cNvSpPr/>
          <p:nvPr/>
        </p:nvSpPr>
        <p:spPr>
          <a:xfrm>
            <a:off x="13753784" y="1447800"/>
            <a:ext cx="28575" cy="266700"/>
          </a:xfrm>
          <a:prstGeom prst="rect">
            <a:avLst/>
          </a:prstGeom>
          <a:solidFill>
            <a:srgbClr val="1D1D22"/>
          </a:solidFill>
          <a:ln/>
        </p:spPr>
      </p:sp>
      <p:sp>
        <p:nvSpPr>
          <p:cNvPr id="10" name="Shape 8"/>
          <p:cNvSpPr/>
          <p:nvPr/>
        </p:nvSpPr>
        <p:spPr>
          <a:xfrm>
            <a:off x="14192864" y="1447800"/>
            <a:ext cx="28575" cy="266700"/>
          </a:xfrm>
          <a:prstGeom prst="rect">
            <a:avLst/>
          </a:prstGeom>
          <a:solidFill>
            <a:srgbClr val="1D1D22"/>
          </a:solidFill>
          <a:ln/>
        </p:spPr>
      </p:sp>
      <p:sp>
        <p:nvSpPr>
          <p:cNvPr id="11" name="Text 9"/>
          <p:cNvSpPr/>
          <p:nvPr/>
        </p:nvSpPr>
        <p:spPr>
          <a:xfrm>
            <a:off x="14273361" y="1443038"/>
            <a:ext cx="1523821"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E"/>
                </a:solidFill>
                <a:latin typeface="Arial" pitchFamily="34" charset="0"/>
                <a:ea typeface="Arial" pitchFamily="34" charset="-122"/>
                <a:cs typeface="Arial" pitchFamily="34" charset="-120"/>
              </a:rPr>
              <a:t>Input / Output</a:t>
            </a:r>
            <a:endParaRPr lang="en-US" sz="1800" dirty="0"/>
          </a:p>
        </p:txBody>
      </p:sp>
      <p:sp>
        <p:nvSpPr>
          <p:cNvPr id="12" name="Shape 10"/>
          <p:cNvSpPr/>
          <p:nvPr/>
        </p:nvSpPr>
        <p:spPr>
          <a:xfrm rot="2700000">
            <a:off x="15982503" y="1438275"/>
            <a:ext cx="285750" cy="285750"/>
          </a:xfrm>
          <a:prstGeom prst="rect">
            <a:avLst/>
          </a:prstGeom>
          <a:solidFill>
            <a:srgbClr val="FFFFFF"/>
          </a:solidFill>
          <a:ln w="28575">
            <a:solidFill>
              <a:srgbClr val="8B1D2C"/>
            </a:solidFill>
            <a:prstDash val="solid"/>
          </a:ln>
        </p:spPr>
      </p:sp>
      <p:sp>
        <p:nvSpPr>
          <p:cNvPr id="13" name="Text 11"/>
          <p:cNvSpPr/>
          <p:nvPr/>
        </p:nvSpPr>
        <p:spPr>
          <a:xfrm>
            <a:off x="16363504" y="1443038"/>
            <a:ext cx="952946"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E"/>
                </a:solidFill>
                <a:latin typeface="Arial" pitchFamily="34" charset="0"/>
                <a:ea typeface="Arial" pitchFamily="34" charset="-122"/>
                <a:cs typeface="Arial" pitchFamily="34" charset="-120"/>
              </a:rPr>
              <a:t>Decision</a:t>
            </a:r>
            <a:endParaRPr lang="en-US" sz="1800" dirty="0"/>
          </a:p>
        </p:txBody>
      </p:sp>
      <p:sp>
        <p:nvSpPr>
          <p:cNvPr id="14" name="Shape 12"/>
          <p:cNvSpPr/>
          <p:nvPr/>
        </p:nvSpPr>
        <p:spPr>
          <a:xfrm>
            <a:off x="2866343" y="4119562"/>
            <a:ext cx="5429126" cy="628650"/>
          </a:xfrm>
          <a:prstGeom prst="rect">
            <a:avLst/>
          </a:prstGeom>
          <a:solidFill>
            <a:srgbClr val="FFFFFF"/>
          </a:solidFill>
          <a:ln/>
        </p:spPr>
      </p:sp>
      <p:sp>
        <p:nvSpPr>
          <p:cNvPr id="15" name="Shape 13"/>
          <p:cNvSpPr/>
          <p:nvPr/>
        </p:nvSpPr>
        <p:spPr>
          <a:xfrm>
            <a:off x="2866343" y="4718763"/>
            <a:ext cx="5429126" cy="29450"/>
          </a:xfrm>
          <a:prstGeom prst="rect">
            <a:avLst/>
          </a:prstGeom>
          <a:solidFill>
            <a:srgbClr val="1D1D22"/>
          </a:solidFill>
          <a:ln/>
        </p:spPr>
      </p:sp>
      <p:sp>
        <p:nvSpPr>
          <p:cNvPr id="16" name="Shape 14"/>
          <p:cNvSpPr/>
          <p:nvPr/>
        </p:nvSpPr>
        <p:spPr>
          <a:xfrm>
            <a:off x="2866343" y="4119562"/>
            <a:ext cx="5429126" cy="29450"/>
          </a:xfrm>
          <a:prstGeom prst="rect">
            <a:avLst/>
          </a:prstGeom>
          <a:solidFill>
            <a:srgbClr val="1D1D22"/>
          </a:solidFill>
          <a:ln/>
        </p:spPr>
      </p:sp>
      <p:sp>
        <p:nvSpPr>
          <p:cNvPr id="17" name="Shape 15"/>
          <p:cNvSpPr/>
          <p:nvPr/>
        </p:nvSpPr>
        <p:spPr>
          <a:xfrm>
            <a:off x="2866343" y="4119562"/>
            <a:ext cx="28575" cy="628650"/>
          </a:xfrm>
          <a:prstGeom prst="rect">
            <a:avLst/>
          </a:prstGeom>
          <a:solidFill>
            <a:srgbClr val="1D1D22"/>
          </a:solidFill>
          <a:ln/>
        </p:spPr>
      </p:sp>
      <p:sp>
        <p:nvSpPr>
          <p:cNvPr id="18" name="Shape 16"/>
          <p:cNvSpPr/>
          <p:nvPr/>
        </p:nvSpPr>
        <p:spPr>
          <a:xfrm>
            <a:off x="8266894" y="4119562"/>
            <a:ext cx="28575" cy="628650"/>
          </a:xfrm>
          <a:prstGeom prst="rect">
            <a:avLst/>
          </a:prstGeom>
          <a:solidFill>
            <a:srgbClr val="1D1D22"/>
          </a:solidFill>
          <a:ln/>
        </p:spPr>
      </p:sp>
      <p:sp>
        <p:nvSpPr>
          <p:cNvPr id="19" name="Text 17"/>
          <p:cNvSpPr/>
          <p:nvPr/>
        </p:nvSpPr>
        <p:spPr>
          <a:xfrm>
            <a:off x="3218768" y="4286445"/>
            <a:ext cx="4887149" cy="332986"/>
          </a:xfrm>
          <a:prstGeom prst="rect">
            <a:avLst/>
          </a:prstGeom>
          <a:noFill/>
          <a:ln/>
        </p:spPr>
        <p:txBody>
          <a:bodyPr wrap="square" lIns="25400" tIns="25400" rIns="25400" bIns="25400" rtlCol="0" anchor="t">
            <a:normAutofit/>
          </a:bodyPr>
          <a:lstStyle/>
          <a:p>
            <a:pPr algn="l" indent="0" marL="0">
              <a:buNone/>
            </a:pPr>
            <a:r>
              <a:rPr lang="en-US" sz="2151" dirty="0">
                <a:solidFill>
                  <a:srgbClr val="1D1D22"/>
                </a:solidFill>
                <a:latin typeface="Arial" pitchFamily="34" charset="0"/>
                <a:ea typeface="Arial" pitchFamily="34" charset="-122"/>
                <a:cs typeface="Arial" pitchFamily="34" charset="-120"/>
              </a:rPr>
              <a:t>Read AudioA — audioread, Fs = 48 kHz</a:t>
            </a:r>
            <a:endParaRPr lang="en-US" sz="2151" dirty="0"/>
          </a:p>
        </p:txBody>
      </p:sp>
      <p:sp>
        <p:nvSpPr>
          <p:cNvPr id="20" name="Shape 18"/>
          <p:cNvSpPr/>
          <p:nvPr/>
        </p:nvSpPr>
        <p:spPr>
          <a:xfrm>
            <a:off x="5566618" y="4748213"/>
            <a:ext cx="28575" cy="285750"/>
          </a:xfrm>
          <a:prstGeom prst="rect">
            <a:avLst/>
          </a:prstGeom>
          <a:solidFill>
            <a:srgbClr val="1D1D22"/>
          </a:solidFill>
          <a:ln/>
        </p:spPr>
      </p:sp>
      <p:sp>
        <p:nvSpPr>
          <p:cNvPr id="21" name="Shape 19"/>
          <p:cNvSpPr/>
          <p:nvPr/>
        </p:nvSpPr>
        <p:spPr>
          <a:xfrm>
            <a:off x="3708648" y="5033963"/>
            <a:ext cx="3744516" cy="628650"/>
          </a:xfrm>
          <a:prstGeom prst="rect">
            <a:avLst/>
          </a:prstGeom>
          <a:solidFill>
            <a:srgbClr val="FFFFFF"/>
          </a:solidFill>
          <a:ln w="28575">
            <a:solidFill>
              <a:srgbClr val="1D1D22"/>
            </a:solidFill>
            <a:prstDash val="solid"/>
          </a:ln>
        </p:spPr>
      </p:sp>
      <p:sp>
        <p:nvSpPr>
          <p:cNvPr id="22" name="Text 20"/>
          <p:cNvSpPr/>
          <p:nvPr/>
        </p:nvSpPr>
        <p:spPr>
          <a:xfrm>
            <a:off x="3966805" y="5195887"/>
            <a:ext cx="3228201"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Plot time-domain signal x(t)</a:t>
            </a:r>
            <a:endParaRPr lang="en-US" sz="2025" dirty="0"/>
          </a:p>
        </p:txBody>
      </p:sp>
      <p:sp>
        <p:nvSpPr>
          <p:cNvPr id="23" name="Shape 21"/>
          <p:cNvSpPr/>
          <p:nvPr/>
        </p:nvSpPr>
        <p:spPr>
          <a:xfrm>
            <a:off x="5566618" y="5662613"/>
            <a:ext cx="28575" cy="285750"/>
          </a:xfrm>
          <a:prstGeom prst="rect">
            <a:avLst/>
          </a:prstGeom>
          <a:solidFill>
            <a:srgbClr val="1D1D22"/>
          </a:solidFill>
          <a:ln/>
        </p:spPr>
      </p:sp>
      <p:sp>
        <p:nvSpPr>
          <p:cNvPr id="24" name="Shape 22"/>
          <p:cNvSpPr/>
          <p:nvPr/>
        </p:nvSpPr>
        <p:spPr>
          <a:xfrm>
            <a:off x="3231059" y="5948363"/>
            <a:ext cx="4699546" cy="628650"/>
          </a:xfrm>
          <a:prstGeom prst="rect">
            <a:avLst/>
          </a:prstGeom>
          <a:solidFill>
            <a:srgbClr val="FFFFFF"/>
          </a:solidFill>
          <a:ln w="28575">
            <a:solidFill>
              <a:srgbClr val="1D1D22"/>
            </a:solidFill>
            <a:prstDash val="solid"/>
          </a:ln>
        </p:spPr>
      </p:sp>
      <p:sp>
        <p:nvSpPr>
          <p:cNvPr id="25" name="Text 23"/>
          <p:cNvSpPr/>
          <p:nvPr/>
        </p:nvSpPr>
        <p:spPr>
          <a:xfrm>
            <a:off x="3474890" y="6110287"/>
            <a:ext cx="4211882"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FFT + fftshift → two-sided spectrum</a:t>
            </a:r>
            <a:endParaRPr lang="en-US" sz="2025" dirty="0"/>
          </a:p>
        </p:txBody>
      </p:sp>
      <p:sp>
        <p:nvSpPr>
          <p:cNvPr id="26" name="Shape 24"/>
          <p:cNvSpPr/>
          <p:nvPr/>
        </p:nvSpPr>
        <p:spPr>
          <a:xfrm>
            <a:off x="5566618" y="6577013"/>
            <a:ext cx="28575" cy="285750"/>
          </a:xfrm>
          <a:prstGeom prst="rect">
            <a:avLst/>
          </a:prstGeom>
          <a:solidFill>
            <a:srgbClr val="1D1D22"/>
          </a:solidFill>
          <a:ln/>
        </p:spPr>
      </p:sp>
      <p:sp>
        <p:nvSpPr>
          <p:cNvPr id="27" name="Shape 25"/>
          <p:cNvSpPr/>
          <p:nvPr/>
        </p:nvSpPr>
        <p:spPr>
          <a:xfrm>
            <a:off x="3608189" y="6862763"/>
            <a:ext cx="3945285" cy="628650"/>
          </a:xfrm>
          <a:prstGeom prst="rect">
            <a:avLst/>
          </a:prstGeom>
          <a:solidFill>
            <a:srgbClr val="FFFFFF"/>
          </a:solidFill>
          <a:ln w="28575">
            <a:solidFill>
              <a:srgbClr val="1D1D22"/>
            </a:solidFill>
            <a:prstDash val="solid"/>
          </a:ln>
        </p:spPr>
      </p:sp>
      <p:sp>
        <p:nvSpPr>
          <p:cNvPr id="28" name="Text 26"/>
          <p:cNvSpPr/>
          <p:nvPr/>
        </p:nvSpPr>
        <p:spPr>
          <a:xfrm>
            <a:off x="3863335" y="7024687"/>
            <a:ext cx="3434993"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Plot frequency-domain signal</a:t>
            </a:r>
            <a:endParaRPr lang="en-US" sz="2025" dirty="0"/>
          </a:p>
        </p:txBody>
      </p:sp>
      <p:sp>
        <p:nvSpPr>
          <p:cNvPr id="29" name="Text 27"/>
          <p:cNvSpPr/>
          <p:nvPr/>
        </p:nvSpPr>
        <p:spPr>
          <a:xfrm>
            <a:off x="8934450" y="5557838"/>
            <a:ext cx="495300" cy="533400"/>
          </a:xfrm>
          <a:prstGeom prst="rect">
            <a:avLst/>
          </a:prstGeom>
          <a:noFill/>
          <a:ln/>
        </p:spPr>
        <p:txBody>
          <a:bodyPr wrap="square" lIns="25400" tIns="25400" rIns="25400" bIns="25400" rtlCol="0" anchor="t">
            <a:normAutofit/>
          </a:bodyPr>
          <a:lstStyle/>
          <a:p>
            <a:pPr algn="l" indent="0" marL="0">
              <a:buNone/>
            </a:pPr>
            <a:r>
              <a:rPr lang="en-US" sz="3300" b="1" dirty="0">
                <a:solidFill>
                  <a:srgbClr val="8B1D2C"/>
                </a:solidFill>
                <a:latin typeface="Arial" pitchFamily="34" charset="0"/>
                <a:ea typeface="Arial" pitchFamily="34" charset="-122"/>
                <a:cs typeface="Arial" pitchFamily="34" charset="-120"/>
              </a:rPr>
              <a:t>→</a:t>
            </a:r>
            <a:endParaRPr lang="en-US" sz="3300" dirty="0"/>
          </a:p>
        </p:txBody>
      </p:sp>
      <p:sp>
        <p:nvSpPr>
          <p:cNvPr id="30" name="Shape 28"/>
          <p:cNvSpPr/>
          <p:nvPr/>
        </p:nvSpPr>
        <p:spPr>
          <a:xfrm>
            <a:off x="10020300" y="3333750"/>
            <a:ext cx="5373588" cy="628650"/>
          </a:xfrm>
          <a:prstGeom prst="rect">
            <a:avLst/>
          </a:prstGeom>
          <a:solidFill>
            <a:srgbClr val="FFFFFF"/>
          </a:solidFill>
          <a:ln w="28575">
            <a:solidFill>
              <a:srgbClr val="1D1D22"/>
            </a:solidFill>
            <a:prstDash val="solid"/>
          </a:ln>
        </p:spPr>
      </p:sp>
      <p:sp>
        <p:nvSpPr>
          <p:cNvPr id="31" name="Text 29"/>
          <p:cNvSpPr/>
          <p:nvPr/>
        </p:nvSpPr>
        <p:spPr>
          <a:xfrm>
            <a:off x="10254021" y="3495675"/>
            <a:ext cx="4906146"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Design LPF — butter(9, 0.02·fmax/(Fs/2))</a:t>
            </a:r>
            <a:endParaRPr lang="en-US" sz="2025" dirty="0"/>
          </a:p>
        </p:txBody>
      </p:sp>
      <p:sp>
        <p:nvSpPr>
          <p:cNvPr id="32" name="Shape 30"/>
          <p:cNvSpPr/>
          <p:nvPr/>
        </p:nvSpPr>
        <p:spPr>
          <a:xfrm>
            <a:off x="12692807" y="3962400"/>
            <a:ext cx="28575" cy="285750"/>
          </a:xfrm>
          <a:prstGeom prst="rect">
            <a:avLst/>
          </a:prstGeom>
          <a:solidFill>
            <a:srgbClr val="1D1D22"/>
          </a:solidFill>
          <a:ln/>
        </p:spPr>
      </p:sp>
      <p:sp>
        <p:nvSpPr>
          <p:cNvPr id="33" name="Shape 31"/>
          <p:cNvSpPr/>
          <p:nvPr/>
        </p:nvSpPr>
        <p:spPr>
          <a:xfrm>
            <a:off x="10627370" y="4248150"/>
            <a:ext cx="4159300" cy="628650"/>
          </a:xfrm>
          <a:prstGeom prst="rect">
            <a:avLst/>
          </a:prstGeom>
          <a:solidFill>
            <a:srgbClr val="FFFFFF"/>
          </a:solidFill>
          <a:ln w="28575">
            <a:solidFill>
              <a:srgbClr val="1D1D22"/>
            </a:solidFill>
            <a:prstDash val="solid"/>
          </a:ln>
        </p:spPr>
      </p:sp>
      <p:sp>
        <p:nvSpPr>
          <p:cNvPr id="34" name="Text 32"/>
          <p:cNvSpPr/>
          <p:nvPr/>
        </p:nvSpPr>
        <p:spPr>
          <a:xfrm>
            <a:off x="10879305" y="4410075"/>
            <a:ext cx="3655429"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Inspect response — freqz(b, a)</a:t>
            </a:r>
            <a:endParaRPr lang="en-US" sz="2025" dirty="0"/>
          </a:p>
        </p:txBody>
      </p:sp>
      <p:sp>
        <p:nvSpPr>
          <p:cNvPr id="35" name="Shape 33"/>
          <p:cNvSpPr/>
          <p:nvPr/>
        </p:nvSpPr>
        <p:spPr>
          <a:xfrm>
            <a:off x="12692807" y="4876800"/>
            <a:ext cx="28575" cy="285750"/>
          </a:xfrm>
          <a:prstGeom prst="rect">
            <a:avLst/>
          </a:prstGeom>
          <a:solidFill>
            <a:srgbClr val="1D1D22"/>
          </a:solidFill>
          <a:ln/>
        </p:spPr>
      </p:sp>
      <p:sp>
        <p:nvSpPr>
          <p:cNvPr id="36" name="Shape 34"/>
          <p:cNvSpPr/>
          <p:nvPr/>
        </p:nvSpPr>
        <p:spPr>
          <a:xfrm>
            <a:off x="10398770" y="5162550"/>
            <a:ext cx="4616500" cy="628650"/>
          </a:xfrm>
          <a:prstGeom prst="rect">
            <a:avLst/>
          </a:prstGeom>
          <a:solidFill>
            <a:srgbClr val="FFFFFF"/>
          </a:solidFill>
          <a:ln w="28575">
            <a:solidFill>
              <a:srgbClr val="1D1D22"/>
            </a:solidFill>
            <a:prstDash val="solid"/>
          </a:ln>
        </p:spPr>
      </p:sp>
      <p:sp>
        <p:nvSpPr>
          <p:cNvPr id="37" name="Text 35"/>
          <p:cNvSpPr/>
          <p:nvPr/>
        </p:nvSpPr>
        <p:spPr>
          <a:xfrm>
            <a:off x="10643847" y="5324475"/>
            <a:ext cx="4126345" cy="342900"/>
          </a:xfrm>
          <a:prstGeom prst="rect">
            <a:avLst/>
          </a:prstGeom>
          <a:noFill/>
          <a:ln/>
        </p:spPr>
        <p:txBody>
          <a:bodyPr wrap="square" lIns="25400" tIns="25400" rIns="25400" bIns="25400" rtlCol="0" anchor="t">
            <a:normAutofit/>
          </a:bodyPr>
          <a:lstStyle/>
          <a:p>
            <a:pPr algn="ctr" indent="0" marL="0">
              <a:buNone/>
            </a:pPr>
            <a:r>
              <a:rPr lang="en-US" sz="2025" dirty="0">
                <a:solidFill>
                  <a:srgbClr val="1D1D22"/>
                </a:solidFill>
                <a:latin typeface="Arial" pitchFamily="34" charset="0"/>
                <a:ea typeface="Arial" pitchFamily="34" charset="-122"/>
                <a:cs typeface="Arial" pitchFamily="34" charset="-120"/>
              </a:rPr>
              <a:t>Apply filter → plot filtered spectrum</a:t>
            </a:r>
            <a:endParaRPr lang="en-US" sz="2025" dirty="0"/>
          </a:p>
        </p:txBody>
      </p:sp>
      <p:sp>
        <p:nvSpPr>
          <p:cNvPr id="38" name="Shape 36"/>
          <p:cNvSpPr/>
          <p:nvPr/>
        </p:nvSpPr>
        <p:spPr>
          <a:xfrm>
            <a:off x="12692807" y="5791200"/>
            <a:ext cx="28575" cy="285750"/>
          </a:xfrm>
          <a:prstGeom prst="rect">
            <a:avLst/>
          </a:prstGeom>
          <a:solidFill>
            <a:srgbClr val="1D1D22"/>
          </a:solidFill>
          <a:ln/>
        </p:spPr>
      </p:sp>
      <p:sp>
        <p:nvSpPr>
          <p:cNvPr id="39" name="Shape 37"/>
          <p:cNvSpPr/>
          <p:nvPr/>
        </p:nvSpPr>
        <p:spPr>
          <a:xfrm rot="2700000">
            <a:off x="11992719" y="6324600"/>
            <a:ext cx="1428750" cy="1428750"/>
          </a:xfrm>
          <a:prstGeom prst="rect">
            <a:avLst/>
          </a:prstGeom>
          <a:solidFill>
            <a:srgbClr val="FFFFFF"/>
          </a:solidFill>
          <a:ln w="28575">
            <a:solidFill>
              <a:srgbClr val="8B1D2C"/>
            </a:solidFill>
            <a:prstDash val="solid"/>
          </a:ln>
        </p:spPr>
      </p:sp>
      <p:sp>
        <p:nvSpPr>
          <p:cNvPr id="40" name="Text 38"/>
          <p:cNvSpPr/>
          <p:nvPr/>
        </p:nvSpPr>
        <p:spPr>
          <a:xfrm rot="-2700000">
            <a:off x="11983194" y="6610350"/>
            <a:ext cx="1447800" cy="895350"/>
          </a:xfrm>
          <a:prstGeom prst="rect">
            <a:avLst/>
          </a:prstGeom>
          <a:noFill/>
          <a:ln/>
        </p:spPr>
        <p:txBody>
          <a:bodyPr wrap="square" lIns="25400" tIns="25400" rIns="25400" bIns="25400" rtlCol="0" anchor="t">
            <a:normAutofit/>
          </a:bodyPr>
          <a:lstStyle/>
          <a:p>
            <a:pPr algn="ctr" indent="0" marL="0">
              <a:buNone/>
            </a:pPr>
            <a:r>
              <a:rPr lang="en-US" sz="1875" b="1" dirty="0">
                <a:solidFill>
                  <a:srgbClr val="8B1D2C"/>
                </a:solidFill>
                <a:latin typeface="Arial" pitchFamily="34" charset="0"/>
                <a:ea typeface="Arial" pitchFamily="34" charset="-122"/>
                <a:cs typeface="Arial" pitchFamily="34" charset="-120"/>
              </a:rPr>
              <a:t>Filter behaves correctly?</a:t>
            </a:r>
            <a:endParaRPr lang="en-US" sz="1875" dirty="0"/>
          </a:p>
        </p:txBody>
      </p:sp>
      <p:sp>
        <p:nvSpPr>
          <p:cNvPr id="41" name="Text 39"/>
          <p:cNvSpPr/>
          <p:nvPr/>
        </p:nvSpPr>
        <p:spPr>
          <a:xfrm>
            <a:off x="10549711" y="7981950"/>
            <a:ext cx="4314765"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8B1D2C"/>
                </a:solidFill>
                <a:latin typeface="Arial" pitchFamily="34" charset="0"/>
                <a:ea typeface="Arial" pitchFamily="34" charset="-122"/>
                <a:cs typeface="Arial" pitchFamily="34" charset="-120"/>
              </a:rPr>
              <a:t>No — investigated on slides 8–10</a:t>
            </a:r>
            <a:endParaRPr lang="en-US" sz="1950" dirty="0"/>
          </a:p>
        </p:txBody>
      </p:sp>
      <p:sp>
        <p:nvSpPr>
          <p:cNvPr id="42" name="Text 40"/>
          <p:cNvSpPr/>
          <p:nvPr/>
        </p:nvSpPr>
        <p:spPr>
          <a:xfrm>
            <a:off x="1047750" y="9772650"/>
            <a:ext cx="3600822"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Abdulrahman Shabkouh</a:t>
            </a:r>
            <a:endParaRPr lang="en-US" sz="1650" dirty="0"/>
          </a:p>
        </p:txBody>
      </p:sp>
      <p:sp>
        <p:nvSpPr>
          <p:cNvPr id="43" name="Text 41"/>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4</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RESULTS · PLOT 1</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AudioA in the Time Domain</a:t>
            </a:r>
            <a:endParaRPr lang="en-US" sz="4500" dirty="0"/>
          </a:p>
        </p:txBody>
      </p:sp>
      <p:sp>
        <p:nvSpPr>
          <p:cNvPr id="4" name="Shape 2"/>
          <p:cNvSpPr/>
          <p:nvPr/>
        </p:nvSpPr>
        <p:spPr>
          <a:xfrm>
            <a:off x="1038225" y="2524125"/>
            <a:ext cx="9075688" cy="6115050"/>
          </a:xfrm>
          <a:prstGeom prst="rect">
            <a:avLst/>
          </a:prstGeom>
          <a:ln w="9525">
            <a:solidFill>
              <a:srgbClr val="D8D8DD"/>
            </a:solidFill>
            <a:prstDash val="solid"/>
          </a:ln>
        </p:spPr>
      </p:sp>
      <p:pic>
        <p:nvPicPr>
          <p:cNvPr id="5" name="Image 0" descr="preencoded.png">    </p:cNvPr>
          <p:cNvPicPr>
            <a:picLocks noChangeAspect="1"/>
          </p:cNvPicPr>
          <p:nvPr/>
        </p:nvPicPr>
        <p:blipFill>
          <a:blip r:embed="rId1"/>
          <a:srcRect l="-5720" r="-5720" t="0" b="0"/>
          <a:stretch/>
        </p:blipFill>
        <p:spPr>
          <a:xfrm>
            <a:off x="1038225" y="2524125"/>
            <a:ext cx="9075688" cy="6115050"/>
          </a:xfrm>
          <a:prstGeom prst="rect">
            <a:avLst/>
          </a:prstGeom>
        </p:spPr>
      </p:pic>
      <p:sp>
        <p:nvSpPr>
          <p:cNvPr id="6" name="Text 3"/>
          <p:cNvSpPr/>
          <p:nvPr/>
        </p:nvSpPr>
        <p:spPr>
          <a:xfrm>
            <a:off x="3456384" y="8791575"/>
            <a:ext cx="466330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5555E"/>
                </a:solidFill>
                <a:latin typeface="Arial" pitchFamily="34" charset="0"/>
                <a:ea typeface="Arial" pitchFamily="34" charset="-122"/>
                <a:cs typeface="Arial" pitchFamily="34" charset="-120"/>
              </a:rPr>
              <a:t>AudioA waveform — amplitude vs time</a:t>
            </a:r>
            <a:endParaRPr lang="en-US" sz="1950" dirty="0"/>
          </a:p>
        </p:txBody>
      </p:sp>
      <p:sp>
        <p:nvSpPr>
          <p:cNvPr id="7" name="Text 4"/>
          <p:cNvSpPr/>
          <p:nvPr/>
        </p:nvSpPr>
        <p:spPr>
          <a:xfrm>
            <a:off x="10771138" y="3719512"/>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8" name="Text 5"/>
          <p:cNvSpPr/>
          <p:nvPr/>
        </p:nvSpPr>
        <p:spPr>
          <a:xfrm>
            <a:off x="11228338" y="3719512"/>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 1.6 s of speech containing five distinct energy bursts</a:t>
            </a:r>
            <a:endParaRPr lang="en-US" sz="2250" dirty="0"/>
          </a:p>
        </p:txBody>
      </p:sp>
      <p:sp>
        <p:nvSpPr>
          <p:cNvPr id="9" name="Text 6"/>
          <p:cNvSpPr/>
          <p:nvPr/>
        </p:nvSpPr>
        <p:spPr>
          <a:xfrm>
            <a:off x="10771138" y="48244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0" name="Text 7"/>
          <p:cNvSpPr/>
          <p:nvPr/>
        </p:nvSpPr>
        <p:spPr>
          <a:xfrm>
            <a:off x="11228338" y="48244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Bursts = spoken words/syllables; gaps = silence between them</a:t>
            </a:r>
            <a:endParaRPr lang="en-US" sz="2250" dirty="0"/>
          </a:p>
        </p:txBody>
      </p:sp>
      <p:sp>
        <p:nvSpPr>
          <p:cNvPr id="11" name="Text 8"/>
          <p:cNvSpPr/>
          <p:nvPr/>
        </p:nvSpPr>
        <p:spPr>
          <a:xfrm>
            <a:off x="10771138" y="59293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2" name="Text 9"/>
          <p:cNvSpPr/>
          <p:nvPr/>
        </p:nvSpPr>
        <p:spPr>
          <a:xfrm>
            <a:off x="11228338" y="59293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Peak amplitude ≈ ±1: the recording is normalized, no clipping</a:t>
            </a:r>
            <a:endParaRPr lang="en-US" sz="2250" dirty="0"/>
          </a:p>
        </p:txBody>
      </p:sp>
      <p:sp>
        <p:nvSpPr>
          <p:cNvPr id="13" name="Text 10"/>
          <p:cNvSpPr/>
          <p:nvPr/>
        </p:nvSpPr>
        <p:spPr>
          <a:xfrm>
            <a:off x="10771138" y="70342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4" name="Text 11"/>
          <p:cNvSpPr/>
          <p:nvPr/>
        </p:nvSpPr>
        <p:spPr>
          <a:xfrm>
            <a:off x="11228338" y="70342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Sampled at Fs = 48 kHz — 48,000 samples per second</a:t>
            </a:r>
            <a:endParaRPr lang="en-US" sz="2250" dirty="0"/>
          </a:p>
        </p:txBody>
      </p:sp>
      <p:sp>
        <p:nvSpPr>
          <p:cNvPr id="15" name="Text 12"/>
          <p:cNvSpPr/>
          <p:nvPr/>
        </p:nvSpPr>
        <p:spPr>
          <a:xfrm>
            <a:off x="1047750" y="9772650"/>
            <a:ext cx="2664723"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Nasser AlQinai</a:t>
            </a:r>
            <a:endParaRPr lang="en-US" sz="1650" dirty="0"/>
          </a:p>
        </p:txBody>
      </p:sp>
      <p:sp>
        <p:nvSpPr>
          <p:cNvPr id="16" name="Text 13"/>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5</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RESULTS · PLOT 2</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AudioA in the Frequency Domain</a:t>
            </a:r>
            <a:endParaRPr lang="en-US" sz="4500" dirty="0"/>
          </a:p>
        </p:txBody>
      </p:sp>
      <p:sp>
        <p:nvSpPr>
          <p:cNvPr id="4" name="Shape 2"/>
          <p:cNvSpPr/>
          <p:nvPr/>
        </p:nvSpPr>
        <p:spPr>
          <a:xfrm>
            <a:off x="1038225" y="2524125"/>
            <a:ext cx="9075688" cy="6115050"/>
          </a:xfrm>
          <a:prstGeom prst="rect">
            <a:avLst/>
          </a:prstGeom>
          <a:ln w="9525">
            <a:solidFill>
              <a:srgbClr val="D8D8DD"/>
            </a:solidFill>
            <a:prstDash val="solid"/>
          </a:ln>
        </p:spPr>
      </p:sp>
      <p:pic>
        <p:nvPicPr>
          <p:cNvPr id="5" name="Image 0" descr="preencoded.png">    </p:cNvPr>
          <p:cNvPicPr>
            <a:picLocks noChangeAspect="1"/>
          </p:cNvPicPr>
          <p:nvPr/>
        </p:nvPicPr>
        <p:blipFill>
          <a:blip r:embed="rId1"/>
          <a:srcRect l="-5720" r="-5720" t="0" b="0"/>
          <a:stretch/>
        </p:blipFill>
        <p:spPr>
          <a:xfrm>
            <a:off x="1038225" y="2524125"/>
            <a:ext cx="9075688" cy="6115050"/>
          </a:xfrm>
          <a:prstGeom prst="rect">
            <a:avLst/>
          </a:prstGeom>
        </p:spPr>
      </p:pic>
      <p:sp>
        <p:nvSpPr>
          <p:cNvPr id="6" name="Text 3"/>
          <p:cNvSpPr/>
          <p:nvPr/>
        </p:nvSpPr>
        <p:spPr>
          <a:xfrm>
            <a:off x="2934444" y="8791575"/>
            <a:ext cx="5811575"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5555E"/>
                </a:solidFill>
                <a:latin typeface="Arial" pitchFamily="34" charset="0"/>
                <a:ea typeface="Arial" pitchFamily="34" charset="-122"/>
                <a:cs typeface="Arial" pitchFamily="34" charset="-120"/>
              </a:rPr>
              <a:t>Two-sided magnitude spectrum via FFT + fftshift</a:t>
            </a:r>
            <a:endParaRPr lang="en-US" sz="1950" dirty="0"/>
          </a:p>
        </p:txBody>
      </p:sp>
      <p:sp>
        <p:nvSpPr>
          <p:cNvPr id="7" name="Text 4"/>
          <p:cNvSpPr/>
          <p:nvPr/>
        </p:nvSpPr>
        <p:spPr>
          <a:xfrm>
            <a:off x="10771138" y="3719512"/>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8" name="Text 5"/>
          <p:cNvSpPr/>
          <p:nvPr/>
        </p:nvSpPr>
        <p:spPr>
          <a:xfrm>
            <a:off x="11228338" y="3719512"/>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Symmetric about 0 Hz — the signature of a real-valued signal</a:t>
            </a:r>
            <a:endParaRPr lang="en-US" sz="2250" dirty="0"/>
          </a:p>
        </p:txBody>
      </p:sp>
      <p:sp>
        <p:nvSpPr>
          <p:cNvPr id="9" name="Text 6"/>
          <p:cNvSpPr/>
          <p:nvPr/>
        </p:nvSpPr>
        <p:spPr>
          <a:xfrm>
            <a:off x="10771138" y="48244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0" name="Text 7"/>
          <p:cNvSpPr/>
          <p:nvPr/>
        </p:nvSpPr>
        <p:spPr>
          <a:xfrm>
            <a:off x="11228338" y="48244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Energy concentrated below ≈ 8 kHz — the speech band</a:t>
            </a:r>
            <a:endParaRPr lang="en-US" sz="2250" dirty="0"/>
          </a:p>
        </p:txBody>
      </p:sp>
      <p:sp>
        <p:nvSpPr>
          <p:cNvPr id="11" name="Text 8"/>
          <p:cNvSpPr/>
          <p:nvPr/>
        </p:nvSpPr>
        <p:spPr>
          <a:xfrm>
            <a:off x="10771138" y="59293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2" name="Text 9"/>
          <p:cNvSpPr/>
          <p:nvPr/>
        </p:nvSpPr>
        <p:spPr>
          <a:xfrm>
            <a:off x="11228338" y="59293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Axis spans ±24 kHz = Fs/2, the Nyquist frequency</a:t>
            </a:r>
            <a:endParaRPr lang="en-US" sz="2250" dirty="0"/>
          </a:p>
        </p:txBody>
      </p:sp>
      <p:sp>
        <p:nvSpPr>
          <p:cNvPr id="13" name="Text 10"/>
          <p:cNvSpPr/>
          <p:nvPr/>
        </p:nvSpPr>
        <p:spPr>
          <a:xfrm>
            <a:off x="10771138" y="7034213"/>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4" name="Text 11"/>
          <p:cNvSpPr/>
          <p:nvPr/>
        </p:nvSpPr>
        <p:spPr>
          <a:xfrm>
            <a:off x="11228338" y="7034213"/>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Fs = 48 kHz &gt; 2·fmax — the sampling theorem is satisfied with ample margin</a:t>
            </a:r>
            <a:endParaRPr lang="en-US" sz="2250" dirty="0"/>
          </a:p>
        </p:txBody>
      </p:sp>
      <p:sp>
        <p:nvSpPr>
          <p:cNvPr id="15" name="Text 12"/>
          <p:cNvSpPr/>
          <p:nvPr/>
        </p:nvSpPr>
        <p:spPr>
          <a:xfrm>
            <a:off x="1047750" y="9772650"/>
            <a:ext cx="2664723"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Nasser AlQinai</a:t>
            </a:r>
            <a:endParaRPr lang="en-US" sz="1650" dirty="0"/>
          </a:p>
        </p:txBody>
      </p:sp>
      <p:sp>
        <p:nvSpPr>
          <p:cNvPr id="16" name="Text 13"/>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6</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RESULTS · PLOT 3</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The Designed Low-Pass Filter</a:t>
            </a:r>
            <a:endParaRPr lang="en-US" sz="4500" dirty="0"/>
          </a:p>
        </p:txBody>
      </p:sp>
      <p:sp>
        <p:nvSpPr>
          <p:cNvPr id="4" name="Shape 2"/>
          <p:cNvSpPr/>
          <p:nvPr/>
        </p:nvSpPr>
        <p:spPr>
          <a:xfrm>
            <a:off x="1038225" y="2524125"/>
            <a:ext cx="9075688" cy="6115050"/>
          </a:xfrm>
          <a:prstGeom prst="rect">
            <a:avLst/>
          </a:prstGeom>
          <a:ln w="9525">
            <a:solidFill>
              <a:srgbClr val="D8D8DD"/>
            </a:solidFill>
            <a:prstDash val="solid"/>
          </a:ln>
        </p:spPr>
      </p:sp>
      <p:pic>
        <p:nvPicPr>
          <p:cNvPr id="5" name="Image 0" descr="preencoded.png">    </p:cNvPr>
          <p:cNvPicPr>
            <a:picLocks noChangeAspect="1"/>
          </p:cNvPicPr>
          <p:nvPr/>
        </p:nvPicPr>
        <p:blipFill>
          <a:blip r:embed="rId1"/>
          <a:srcRect l="-5720" r="-5720" t="0" b="0"/>
          <a:stretch/>
        </p:blipFill>
        <p:spPr>
          <a:xfrm>
            <a:off x="1038225" y="2524125"/>
            <a:ext cx="9075688" cy="6115050"/>
          </a:xfrm>
          <a:prstGeom prst="rect">
            <a:avLst/>
          </a:prstGeom>
        </p:spPr>
      </p:pic>
      <p:sp>
        <p:nvSpPr>
          <p:cNvPr id="6" name="Text 3"/>
          <p:cNvSpPr/>
          <p:nvPr/>
        </p:nvSpPr>
        <p:spPr>
          <a:xfrm>
            <a:off x="1067693" y="8791575"/>
            <a:ext cx="9918427"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5555E"/>
                </a:solidFill>
                <a:latin typeface="Arial" pitchFamily="34" charset="0"/>
                <a:ea typeface="Arial" pitchFamily="34" charset="-122"/>
                <a:cs typeface="Arial" pitchFamily="34" charset="-120"/>
              </a:rPr>
              <a:t>freqz output: magnitude (top) and phase (bottom) of the 9th-order Butterworth LPF</a:t>
            </a:r>
            <a:endParaRPr lang="en-US" sz="1950" dirty="0"/>
          </a:p>
        </p:txBody>
      </p:sp>
      <p:sp>
        <p:nvSpPr>
          <p:cNvPr id="7" name="Text 4"/>
          <p:cNvSpPr/>
          <p:nvPr/>
        </p:nvSpPr>
        <p:spPr>
          <a:xfrm>
            <a:off x="10771138" y="3924300"/>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8" name="Text 5"/>
          <p:cNvSpPr/>
          <p:nvPr/>
        </p:nvSpPr>
        <p:spPr>
          <a:xfrm>
            <a:off x="11228338" y="3924300"/>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Expected: flat 0 dB passband, then a sharp roll-off at the cutoff</a:t>
            </a:r>
            <a:endParaRPr lang="en-US" sz="2250" dirty="0"/>
          </a:p>
        </p:txBody>
      </p:sp>
      <p:sp>
        <p:nvSpPr>
          <p:cNvPr id="9" name="Text 6"/>
          <p:cNvSpPr/>
          <p:nvPr/>
        </p:nvSpPr>
        <p:spPr>
          <a:xfrm>
            <a:off x="10771138" y="5029200"/>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0" name="Text 7"/>
          <p:cNvSpPr/>
          <p:nvPr/>
        </p:nvSpPr>
        <p:spPr>
          <a:xfrm>
            <a:off x="11228338" y="5029200"/>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Observed: no passband at all — magnitude falls immediately, reaching −400 dB and below</a:t>
            </a:r>
            <a:endParaRPr lang="en-US" sz="2250" dirty="0"/>
          </a:p>
        </p:txBody>
      </p:sp>
      <p:sp>
        <p:nvSpPr>
          <p:cNvPr id="11" name="Text 8"/>
          <p:cNvSpPr/>
          <p:nvPr/>
        </p:nvSpPr>
        <p:spPr>
          <a:xfrm>
            <a:off x="10771138" y="6134100"/>
            <a:ext cx="36195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2" name="Text 9"/>
          <p:cNvSpPr/>
          <p:nvPr/>
        </p:nvSpPr>
        <p:spPr>
          <a:xfrm>
            <a:off x="11228338" y="6134100"/>
            <a:ext cx="510123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Phase response is similarly distorted</a:t>
            </a:r>
            <a:endParaRPr lang="en-US" sz="2250" dirty="0"/>
          </a:p>
        </p:txBody>
      </p:sp>
      <p:sp>
        <p:nvSpPr>
          <p:cNvPr id="13" name="Shape 10"/>
          <p:cNvSpPr/>
          <p:nvPr/>
        </p:nvSpPr>
        <p:spPr>
          <a:xfrm>
            <a:off x="10771138" y="6810375"/>
            <a:ext cx="57150" cy="876300"/>
          </a:xfrm>
          <a:prstGeom prst="rect">
            <a:avLst/>
          </a:prstGeom>
          <a:solidFill>
            <a:srgbClr val="8B1D2C"/>
          </a:solidFill>
          <a:ln/>
        </p:spPr>
      </p:sp>
      <p:sp>
        <p:nvSpPr>
          <p:cNvPr id="14" name="Text 11"/>
          <p:cNvSpPr/>
          <p:nvPr/>
        </p:nvSpPr>
        <p:spPr>
          <a:xfrm>
            <a:off x="11056888" y="6810375"/>
            <a:ext cx="6377435" cy="914400"/>
          </a:xfrm>
          <a:prstGeom prst="rect">
            <a:avLst/>
          </a:prstGeom>
          <a:noFill/>
          <a:ln/>
        </p:spPr>
        <p:txBody>
          <a:bodyPr wrap="square" lIns="25400" tIns="25400" rIns="25400" bIns="25400" rtlCol="0" anchor="t">
            <a:normAutofit/>
          </a:bodyPr>
          <a:lstStyle/>
          <a:p>
            <a:pPr algn="l" indent="0" marL="0">
              <a:lnSpc>
                <a:spcPct val="150000"/>
              </a:lnSpc>
              <a:buNone/>
            </a:pPr>
            <a:r>
              <a:rPr lang="en-US" sz="2325" b="1" dirty="0">
                <a:solidFill>
                  <a:srgbClr val="8B1D2C"/>
                </a:solidFill>
                <a:latin typeface="Arial" pitchFamily="34" charset="0"/>
                <a:ea typeface="Arial" pitchFamily="34" charset="-122"/>
                <a:cs typeface="Arial" pitchFamily="34" charset="-120"/>
              </a:rPr>
              <a:t>First warning sign: this response is not a usable low-pass filter.</a:t>
            </a:r>
            <a:endParaRPr lang="en-US" sz="2325" dirty="0"/>
          </a:p>
        </p:txBody>
      </p:sp>
      <p:sp>
        <p:nvSpPr>
          <p:cNvPr id="15" name="Text 12"/>
          <p:cNvSpPr/>
          <p:nvPr/>
        </p:nvSpPr>
        <p:spPr>
          <a:xfrm>
            <a:off x="1047750" y="9772650"/>
            <a:ext cx="2664723"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Nasser AlQinai</a:t>
            </a:r>
            <a:endParaRPr lang="en-US" sz="1650" dirty="0"/>
          </a:p>
        </p:txBody>
      </p:sp>
      <p:sp>
        <p:nvSpPr>
          <p:cNvPr id="16" name="Text 13"/>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7</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RESULTS · PLOT 4</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The Filtered Signal: Numerical Blow-Up</a:t>
            </a:r>
            <a:endParaRPr lang="en-US" sz="4500" dirty="0"/>
          </a:p>
        </p:txBody>
      </p:sp>
      <p:sp>
        <p:nvSpPr>
          <p:cNvPr id="4" name="Shape 2"/>
          <p:cNvSpPr/>
          <p:nvPr/>
        </p:nvSpPr>
        <p:spPr>
          <a:xfrm>
            <a:off x="1038225" y="2519363"/>
            <a:ext cx="9075688" cy="6115050"/>
          </a:xfrm>
          <a:prstGeom prst="rect">
            <a:avLst/>
          </a:prstGeom>
          <a:ln w="9525">
            <a:solidFill>
              <a:srgbClr val="D8D8DD"/>
            </a:solidFill>
            <a:prstDash val="solid"/>
          </a:ln>
        </p:spPr>
      </p:sp>
      <p:pic>
        <p:nvPicPr>
          <p:cNvPr id="5" name="Image 0" descr="preencoded.png">    </p:cNvPr>
          <p:cNvPicPr>
            <a:picLocks noChangeAspect="1"/>
          </p:cNvPicPr>
          <p:nvPr/>
        </p:nvPicPr>
        <p:blipFill>
          <a:blip r:embed="rId1"/>
          <a:srcRect l="-5720" r="-5720" t="0" b="0"/>
          <a:stretch/>
        </p:blipFill>
        <p:spPr>
          <a:xfrm>
            <a:off x="1038225" y="2519363"/>
            <a:ext cx="9075688" cy="6115050"/>
          </a:xfrm>
          <a:prstGeom prst="rect">
            <a:avLst/>
          </a:prstGeom>
        </p:spPr>
      </p:pic>
      <p:sp>
        <p:nvSpPr>
          <p:cNvPr id="6" name="Text 3"/>
          <p:cNvSpPr/>
          <p:nvPr/>
        </p:nvSpPr>
        <p:spPr>
          <a:xfrm>
            <a:off x="1883271" y="8786813"/>
            <a:ext cx="812399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E"/>
                </a:solidFill>
                <a:latin typeface="Arial" pitchFamily="34" charset="0"/>
                <a:ea typeface="Arial" pitchFamily="34" charset="-122"/>
                <a:cs typeface="Arial" pitchFamily="34" charset="-120"/>
              </a:rPr>
              <a:t>Spectrum of the filtered signal — amplitude scale reaches 1.2×10²⁸⁷</a:t>
            </a:r>
            <a:endParaRPr lang="en-US" sz="1950" dirty="0"/>
          </a:p>
        </p:txBody>
      </p:sp>
      <p:sp>
        <p:nvSpPr>
          <p:cNvPr id="7" name="Text 4"/>
          <p:cNvSpPr/>
          <p:nvPr/>
        </p:nvSpPr>
        <p:spPr>
          <a:xfrm>
            <a:off x="10771138" y="3709988"/>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8" name="Text 5"/>
          <p:cNvSpPr/>
          <p:nvPr/>
        </p:nvSpPr>
        <p:spPr>
          <a:xfrm>
            <a:off x="11228338" y="3709988"/>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Input amplitude: ≈ 0.03. Output amplitude: ≈ 10²⁸⁷</a:t>
            </a:r>
            <a:endParaRPr lang="en-US" sz="2250" dirty="0"/>
          </a:p>
        </p:txBody>
      </p:sp>
      <p:sp>
        <p:nvSpPr>
          <p:cNvPr id="9" name="Text 6"/>
          <p:cNvSpPr/>
          <p:nvPr/>
        </p:nvSpPr>
        <p:spPr>
          <a:xfrm>
            <a:off x="10771138" y="4814888"/>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0" name="Text 7"/>
          <p:cNvSpPr/>
          <p:nvPr/>
        </p:nvSpPr>
        <p:spPr>
          <a:xfrm>
            <a:off x="11228338" y="4814888"/>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A filter can attenuate or amplify slightly — it cannot produce a gain of 10²⁸⁷</a:t>
            </a:r>
            <a:endParaRPr lang="en-US" sz="2250" dirty="0"/>
          </a:p>
        </p:txBody>
      </p:sp>
      <p:sp>
        <p:nvSpPr>
          <p:cNvPr id="11" name="Text 8"/>
          <p:cNvSpPr/>
          <p:nvPr/>
        </p:nvSpPr>
        <p:spPr>
          <a:xfrm>
            <a:off x="10771138" y="5919788"/>
            <a:ext cx="361950"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8B1D2C"/>
                </a:solidFill>
                <a:latin typeface="Arial" pitchFamily="34" charset="0"/>
                <a:ea typeface="Arial" pitchFamily="34" charset="-122"/>
                <a:cs typeface="Arial" pitchFamily="34" charset="-120"/>
              </a:rPr>
              <a:t>—</a:t>
            </a:r>
            <a:endParaRPr lang="en-US" sz="2250" dirty="0"/>
          </a:p>
        </p:txBody>
      </p:sp>
      <p:sp>
        <p:nvSpPr>
          <p:cNvPr id="12" name="Text 9"/>
          <p:cNvSpPr/>
          <p:nvPr/>
        </p:nvSpPr>
        <p:spPr>
          <a:xfrm>
            <a:off x="11228338" y="5919788"/>
            <a:ext cx="6192269"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3333A"/>
                </a:solidFill>
                <a:latin typeface="Arial" pitchFamily="34" charset="0"/>
                <a:ea typeface="Arial" pitchFamily="34" charset="-122"/>
                <a:cs typeface="Arial" pitchFamily="34" charset="-120"/>
              </a:rPr>
              <a:t>Values approach the double-precision limit (≈ 1.8×10³⁰⁸): the output is diverging, not filtering</a:t>
            </a:r>
            <a:endParaRPr lang="en-US" sz="2250" dirty="0"/>
          </a:p>
        </p:txBody>
      </p:sp>
      <p:sp>
        <p:nvSpPr>
          <p:cNvPr id="13" name="Shape 10"/>
          <p:cNvSpPr/>
          <p:nvPr/>
        </p:nvSpPr>
        <p:spPr>
          <a:xfrm>
            <a:off x="10771138" y="7024688"/>
            <a:ext cx="57150" cy="876300"/>
          </a:xfrm>
          <a:prstGeom prst="rect">
            <a:avLst/>
          </a:prstGeom>
          <a:solidFill>
            <a:srgbClr val="8B1D2C"/>
          </a:solidFill>
          <a:ln/>
        </p:spPr>
      </p:sp>
      <p:sp>
        <p:nvSpPr>
          <p:cNvPr id="14" name="Text 11"/>
          <p:cNvSpPr/>
          <p:nvPr/>
        </p:nvSpPr>
        <p:spPr>
          <a:xfrm>
            <a:off x="11056888" y="7024688"/>
            <a:ext cx="6377435" cy="914400"/>
          </a:xfrm>
          <a:prstGeom prst="rect">
            <a:avLst/>
          </a:prstGeom>
          <a:noFill/>
          <a:ln/>
        </p:spPr>
        <p:txBody>
          <a:bodyPr wrap="square" lIns="25400" tIns="25400" rIns="25400" bIns="25400" rtlCol="0" anchor="t">
            <a:normAutofit/>
          </a:bodyPr>
          <a:lstStyle/>
          <a:p>
            <a:pPr algn="l" indent="0" marL="0">
              <a:lnSpc>
                <a:spcPct val="150000"/>
              </a:lnSpc>
              <a:buNone/>
            </a:pPr>
            <a:r>
              <a:rPr lang="en-US" sz="2325" b="1" dirty="0">
                <a:solidFill>
                  <a:srgbClr val="8B1D2C"/>
                </a:solidFill>
                <a:latin typeface="Arial" pitchFamily="34" charset="0"/>
                <a:ea typeface="Arial" pitchFamily="34" charset="-122"/>
                <a:cs typeface="Arial" pitchFamily="34" charset="-120"/>
              </a:rPr>
              <a:t>The filter is numerically unstable — the output is meaningless.</a:t>
            </a:r>
            <a:endParaRPr lang="en-US" sz="2325" dirty="0"/>
          </a:p>
        </p:txBody>
      </p:sp>
      <p:sp>
        <p:nvSpPr>
          <p:cNvPr id="15" name="Text 12"/>
          <p:cNvSpPr/>
          <p:nvPr/>
        </p:nvSpPr>
        <p:spPr>
          <a:xfrm>
            <a:off x="1047750" y="9772650"/>
            <a:ext cx="2729061"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Ahmed AlHabib</a:t>
            </a:r>
            <a:endParaRPr lang="en-US" sz="1650" dirty="0"/>
          </a:p>
        </p:txBody>
      </p:sp>
      <p:sp>
        <p:nvSpPr>
          <p:cNvPr id="16" name="Text 13"/>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8</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3"/>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DISCUSSION</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Why the Filter Fails</a:t>
            </a:r>
            <a:endParaRPr lang="en-US" sz="4500" dirty="0"/>
          </a:p>
        </p:txBody>
      </p:sp>
      <p:sp>
        <p:nvSpPr>
          <p:cNvPr id="4" name="Shape 2"/>
          <p:cNvSpPr/>
          <p:nvPr/>
        </p:nvSpPr>
        <p:spPr>
          <a:xfrm>
            <a:off x="1047750" y="2438400"/>
            <a:ext cx="16192500" cy="1485900"/>
          </a:xfrm>
          <a:prstGeom prst="rect">
            <a:avLst/>
          </a:prstGeom>
          <a:solidFill>
            <a:srgbClr val="1D1D22"/>
          </a:solidFill>
          <a:ln/>
        </p:spPr>
      </p:sp>
      <p:sp>
        <p:nvSpPr>
          <p:cNvPr id="5" name="Text 3"/>
          <p:cNvSpPr/>
          <p:nvPr/>
        </p:nvSpPr>
        <p:spPr>
          <a:xfrm>
            <a:off x="1428750" y="2724150"/>
            <a:ext cx="15916275" cy="952500"/>
          </a:xfrm>
          <a:prstGeom prst="rect">
            <a:avLst/>
          </a:prstGeom>
          <a:noFill/>
          <a:ln/>
        </p:spPr>
        <p:txBody>
          <a:bodyPr wrap="square" lIns="25400" tIns="25400" rIns="25400" bIns="25400" rtlCol="0" anchor="t">
            <a:normAutofit/>
          </a:bodyPr>
          <a:lstStyle/>
          <a:p>
            <a:pPr algn="l" indent="0" marL="0">
              <a:lnSpc>
                <a:spcPct val="160000"/>
              </a:lnSpc>
              <a:buNone/>
            </a:pPr>
            <a:r>
              <a:rPr lang="en-US" sz="2250" dirty="0">
                <a:solidFill>
                  <a:srgbClr val="8A8A94"/>
                </a:solidFill>
                <a:latin typeface="Courier New" pitchFamily="34" charset="0"/>
                <a:ea typeface="Courier New" pitchFamily="34" charset="-122"/>
                <a:cs typeface="Courier New" pitchFamily="34" charset="-120"/>
              </a:rPr>
              <a:t>% Line 38 of Code1: </a:t>
            </a:r>
            <a:pPr algn="l" indent="0" marL="0">
              <a:lnSpc>
                <a:spcPct val="160000"/>
              </a:lnSpc>
              <a:buNone/>
            </a:pPr>
            <a:r>
              <a:rPr lang="en-US" sz="2250" dirty="0">
                <a:solidFill>
                  <a:srgbClr val="E8E8EC"/>
                </a:solidFill>
                <a:highlight>
                  <a:srgbClr val="1D1D22"/>
                </a:highlight>
                <a:latin typeface="Courier New" pitchFamily="34" charset="0"/>
                <a:ea typeface="Courier New" pitchFamily="34" charset="-122"/>
                <a:cs typeface="Courier New" pitchFamily="34" charset="-120"/>
              </a:rPr>
              <a:t>[b, a] = butter(9, 0.02*fmax/(Fs/2), 'low'); </a:t>
            </a:r>
            <a:pPr algn="l" indent="0" marL="0">
              <a:lnSpc>
                <a:spcPct val="160000"/>
              </a:lnSpc>
              <a:buNone/>
            </a:pPr>
            <a:r>
              <a:rPr lang="en-US" sz="2250" dirty="0">
                <a:solidFill>
                  <a:srgbClr val="8A8A94"/>
                </a:solidFill>
                <a:latin typeface="Courier New" pitchFamily="34" charset="0"/>
                <a:ea typeface="Courier New" pitchFamily="34" charset="-122"/>
                <a:cs typeface="Courier New" pitchFamily="34" charset="-120"/>
              </a:rPr>
              <a:t>% fmax = 8000, Fs = 48000</a:t>
            </a:r>
            <a:endParaRPr lang="en-US" sz="2250" dirty="0"/>
          </a:p>
        </p:txBody>
      </p:sp>
      <p:sp>
        <p:nvSpPr>
          <p:cNvPr id="6" name="Shape 4"/>
          <p:cNvSpPr/>
          <p:nvPr/>
        </p:nvSpPr>
        <p:spPr>
          <a:xfrm>
            <a:off x="1047750" y="4305300"/>
            <a:ext cx="5118050" cy="3609975"/>
          </a:xfrm>
          <a:prstGeom prst="rect">
            <a:avLst/>
          </a:prstGeom>
          <a:solidFill>
            <a:srgbClr val="FFFFFF"/>
          </a:solidFill>
          <a:ln w="9525">
            <a:solidFill>
              <a:srgbClr val="D8D8DD"/>
            </a:solidFill>
            <a:prstDash val="solid"/>
          </a:ln>
        </p:spPr>
      </p:sp>
      <p:sp>
        <p:nvSpPr>
          <p:cNvPr id="7" name="Text 5"/>
          <p:cNvSpPr/>
          <p:nvPr/>
        </p:nvSpPr>
        <p:spPr>
          <a:xfrm>
            <a:off x="1400175" y="4676775"/>
            <a:ext cx="4854520"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8B1D2C"/>
                </a:solidFill>
                <a:latin typeface="Arial" pitchFamily="34" charset="0"/>
                <a:ea typeface="Arial" pitchFamily="34" charset="-122"/>
                <a:cs typeface="Arial" pitchFamily="34" charset="-120"/>
              </a:rPr>
              <a:t>1 · The cutoff is extreme</a:t>
            </a:r>
            <a:endParaRPr lang="en-US" sz="2100" dirty="0"/>
          </a:p>
        </p:txBody>
      </p:sp>
      <p:sp>
        <p:nvSpPr>
          <p:cNvPr id="8" name="Text 6"/>
          <p:cNvSpPr/>
          <p:nvPr/>
        </p:nvSpPr>
        <p:spPr>
          <a:xfrm>
            <a:off x="1400175" y="5143500"/>
            <a:ext cx="4545596"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Normalized cutoff = 0.02 × 8000 / 24000 ≈ </a:t>
            </a:r>
            <a:pPr algn="l" indent="0" marL="0">
              <a:lnSpc>
                <a:spcPct val="150000"/>
              </a:lnSpc>
              <a:buNone/>
            </a:pPr>
            <a:r>
              <a:rPr lang="en-US" sz="2100" b="1" dirty="0">
                <a:solidFill>
                  <a:srgbClr val="44444C"/>
                </a:solidFill>
                <a:latin typeface="Arial" pitchFamily="34" charset="0"/>
                <a:ea typeface="Arial" pitchFamily="34" charset="-122"/>
                <a:cs typeface="Arial" pitchFamily="34" charset="-120"/>
              </a:rPr>
              <a:t>0.0067·π </a:t>
            </a:r>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 only 160 Hz out of a 24 kHz range. That removes nearly all speech content by design.</a:t>
            </a:r>
            <a:endParaRPr lang="en-US" sz="2100" dirty="0"/>
          </a:p>
        </p:txBody>
      </p:sp>
      <p:sp>
        <p:nvSpPr>
          <p:cNvPr id="9" name="Shape 7"/>
          <p:cNvSpPr/>
          <p:nvPr/>
        </p:nvSpPr>
        <p:spPr>
          <a:xfrm>
            <a:off x="6584900" y="4305300"/>
            <a:ext cx="5118050" cy="3609975"/>
          </a:xfrm>
          <a:prstGeom prst="rect">
            <a:avLst/>
          </a:prstGeom>
          <a:solidFill>
            <a:srgbClr val="FFFFFF"/>
          </a:solidFill>
          <a:ln w="9525">
            <a:solidFill>
              <a:srgbClr val="D8D8DD"/>
            </a:solidFill>
            <a:prstDash val="solid"/>
          </a:ln>
        </p:spPr>
      </p:sp>
      <p:sp>
        <p:nvSpPr>
          <p:cNvPr id="10" name="Text 8"/>
          <p:cNvSpPr/>
          <p:nvPr/>
        </p:nvSpPr>
        <p:spPr>
          <a:xfrm>
            <a:off x="6937325" y="4676775"/>
            <a:ext cx="4854520"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8B1D2C"/>
                </a:solidFill>
                <a:latin typeface="Arial" pitchFamily="34" charset="0"/>
                <a:ea typeface="Arial" pitchFamily="34" charset="-122"/>
                <a:cs typeface="Arial" pitchFamily="34" charset="-120"/>
              </a:rPr>
              <a:t>2 · Order 9 makes it unstable</a:t>
            </a:r>
            <a:endParaRPr lang="en-US" sz="2100" dirty="0"/>
          </a:p>
        </p:txBody>
      </p:sp>
      <p:sp>
        <p:nvSpPr>
          <p:cNvPr id="11" name="Text 9"/>
          <p:cNvSpPr/>
          <p:nvPr/>
        </p:nvSpPr>
        <p:spPr>
          <a:xfrm>
            <a:off x="6937325" y="5143500"/>
            <a:ext cx="4545596" cy="24384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A 9th-order design at that cutoff crowds all nine poles just inside z = 1. The transfer-function coefficients become ill-conditioned — rounding errors push poles outside the unit circle.</a:t>
            </a:r>
            <a:endParaRPr lang="en-US" sz="2100" dirty="0"/>
          </a:p>
        </p:txBody>
      </p:sp>
      <p:sp>
        <p:nvSpPr>
          <p:cNvPr id="12" name="Shape 10"/>
          <p:cNvSpPr/>
          <p:nvPr/>
        </p:nvSpPr>
        <p:spPr>
          <a:xfrm>
            <a:off x="12122051" y="4305300"/>
            <a:ext cx="5118199" cy="3609975"/>
          </a:xfrm>
          <a:prstGeom prst="rect">
            <a:avLst/>
          </a:prstGeom>
          <a:solidFill>
            <a:srgbClr val="FFFFFF"/>
          </a:solidFill>
          <a:ln w="9525">
            <a:solidFill>
              <a:srgbClr val="D8D8DD"/>
            </a:solidFill>
            <a:prstDash val="solid"/>
          </a:ln>
        </p:spPr>
      </p:sp>
      <p:sp>
        <p:nvSpPr>
          <p:cNvPr id="13" name="Text 11"/>
          <p:cNvSpPr/>
          <p:nvPr/>
        </p:nvSpPr>
        <p:spPr>
          <a:xfrm>
            <a:off x="12474476" y="4676775"/>
            <a:ext cx="4854684" cy="352425"/>
          </a:xfrm>
          <a:prstGeom prst="rect">
            <a:avLst/>
          </a:prstGeom>
          <a:noFill/>
          <a:ln/>
        </p:spPr>
        <p:txBody>
          <a:bodyPr wrap="square" lIns="25400" tIns="25400" rIns="25400" bIns="25400" rtlCol="0" anchor="t">
            <a:normAutofit/>
          </a:bodyPr>
          <a:lstStyle/>
          <a:p>
            <a:pPr algn="l" indent="0" marL="0">
              <a:buNone/>
            </a:pPr>
            <a:r>
              <a:rPr lang="en-US" sz="2100" b="1" dirty="0">
                <a:solidFill>
                  <a:srgbClr val="8B1D2C"/>
                </a:solidFill>
                <a:latin typeface="Arial" pitchFamily="34" charset="0"/>
                <a:ea typeface="Arial" pitchFamily="34" charset="-122"/>
                <a:cs typeface="Arial" pitchFamily="34" charset="-120"/>
              </a:rPr>
              <a:t>3 · The recursion diverges</a:t>
            </a:r>
            <a:endParaRPr lang="en-US" sz="2100" dirty="0"/>
          </a:p>
        </p:txBody>
      </p:sp>
      <p:sp>
        <p:nvSpPr>
          <p:cNvPr id="14" name="Text 12"/>
          <p:cNvSpPr/>
          <p:nvPr/>
        </p:nvSpPr>
        <p:spPr>
          <a:xfrm>
            <a:off x="12474476" y="5143500"/>
            <a:ext cx="4545750"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An unstable pole means each output sample amplifies the last — growing exponentially until it hits ≈ 10²⁸⁷. Exactly what plot 4 shows.</a:t>
            </a:r>
            <a:endParaRPr lang="en-US" sz="2100" dirty="0"/>
          </a:p>
        </p:txBody>
      </p:sp>
      <p:sp>
        <p:nvSpPr>
          <p:cNvPr id="15" name="Shape 13"/>
          <p:cNvSpPr/>
          <p:nvPr/>
        </p:nvSpPr>
        <p:spPr>
          <a:xfrm>
            <a:off x="1047750" y="8296275"/>
            <a:ext cx="47625" cy="685800"/>
          </a:xfrm>
          <a:prstGeom prst="rect">
            <a:avLst/>
          </a:prstGeom>
          <a:solidFill>
            <a:srgbClr val="8B1D2C"/>
          </a:solidFill>
          <a:ln/>
        </p:spPr>
      </p:sp>
      <p:sp>
        <p:nvSpPr>
          <p:cNvPr id="16" name="Text 14"/>
          <p:cNvSpPr/>
          <p:nvPr/>
        </p:nvSpPr>
        <p:spPr>
          <a:xfrm>
            <a:off x="1343025" y="8296275"/>
            <a:ext cx="16383000" cy="723900"/>
          </a:xfrm>
          <a:prstGeom prst="rect">
            <a:avLst/>
          </a:prstGeom>
          <a:noFill/>
          <a:ln/>
        </p:spPr>
        <p:txBody>
          <a:bodyPr wrap="square" lIns="25400" tIns="25400" rIns="25400" bIns="25400" rtlCol="0" anchor="t">
            <a:normAutofit/>
          </a:bodyPr>
          <a:lstStyle/>
          <a:p>
            <a:pPr algn="l" indent="0" marL="0">
              <a:buNone/>
            </a:pPr>
            <a:r>
              <a:rPr lang="en-US" sz="2250" dirty="0">
                <a:solidFill>
                  <a:srgbClr val="44444C"/>
                </a:solidFill>
                <a:latin typeface="Arial" pitchFamily="34" charset="0"/>
                <a:ea typeface="Arial" pitchFamily="34" charset="-122"/>
                <a:cs typeface="Arial" pitchFamily="34" charset="-120"/>
              </a:rPr>
              <a:t>This is a genuine numerical-analysis result, not a software fluke — and it is the course's stated goal of investigating good filter choice.</a:t>
            </a:r>
            <a:endParaRPr lang="en-US" sz="2250" dirty="0"/>
          </a:p>
        </p:txBody>
      </p:sp>
      <p:sp>
        <p:nvSpPr>
          <p:cNvPr id="17" name="Text 15"/>
          <p:cNvSpPr/>
          <p:nvPr/>
        </p:nvSpPr>
        <p:spPr>
          <a:xfrm>
            <a:off x="1047750" y="9772650"/>
            <a:ext cx="2729061"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Ahmed AlHabib</a:t>
            </a:r>
            <a:endParaRPr lang="en-US" sz="1650" dirty="0"/>
          </a:p>
        </p:txBody>
      </p:sp>
      <p:sp>
        <p:nvSpPr>
          <p:cNvPr id="18" name="Text 16"/>
          <p:cNvSpPr/>
          <p:nvPr/>
        </p:nvSpPr>
        <p:spPr>
          <a:xfrm>
            <a:off x="15295364" y="9772650"/>
            <a:ext cx="213937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9</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DISCUSSION</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What a Good Filter Choice Looks Like</a:t>
            </a:r>
            <a:endParaRPr lang="en-US" sz="4500" dirty="0"/>
          </a:p>
        </p:txBody>
      </p:sp>
      <p:sp>
        <p:nvSpPr>
          <p:cNvPr id="4" name="Shape 2"/>
          <p:cNvSpPr/>
          <p:nvPr/>
        </p:nvSpPr>
        <p:spPr>
          <a:xfrm>
            <a:off x="1047750" y="4029075"/>
            <a:ext cx="5118050" cy="47625"/>
          </a:xfrm>
          <a:prstGeom prst="rect">
            <a:avLst/>
          </a:prstGeom>
          <a:solidFill>
            <a:srgbClr val="8B1D2C"/>
          </a:solidFill>
          <a:ln/>
        </p:spPr>
      </p:sp>
      <p:sp>
        <p:nvSpPr>
          <p:cNvPr id="5" name="Text 3"/>
          <p:cNvSpPr/>
          <p:nvPr/>
        </p:nvSpPr>
        <p:spPr>
          <a:xfrm>
            <a:off x="1047750" y="4343400"/>
            <a:ext cx="5629855" cy="400050"/>
          </a:xfrm>
          <a:prstGeom prst="rect">
            <a:avLst/>
          </a:prstGeom>
          <a:noFill/>
          <a:ln/>
        </p:spPr>
        <p:txBody>
          <a:bodyPr wrap="square" lIns="25400" tIns="25400" rIns="25400" bIns="25400" rtlCol="0" anchor="t">
            <a:normAutofit/>
          </a:bodyPr>
          <a:lstStyle/>
          <a:p>
            <a:pPr algn="l" indent="0" marL="0">
              <a:buNone/>
            </a:pPr>
            <a:r>
              <a:rPr lang="en-US" sz="2400" b="1" dirty="0">
                <a:solidFill>
                  <a:srgbClr val="1D1D22"/>
                </a:solidFill>
                <a:latin typeface="Arial" pitchFamily="34" charset="0"/>
                <a:ea typeface="Arial" pitchFamily="34" charset="-122"/>
                <a:cs typeface="Arial" pitchFamily="34" charset="-120"/>
              </a:rPr>
              <a:t>Use second-order sections</a:t>
            </a:r>
            <a:endParaRPr lang="en-US" sz="2400" dirty="0"/>
          </a:p>
        </p:txBody>
      </p:sp>
      <p:sp>
        <p:nvSpPr>
          <p:cNvPr id="6" name="Shape 4"/>
          <p:cNvSpPr/>
          <p:nvPr/>
        </p:nvSpPr>
        <p:spPr>
          <a:xfrm>
            <a:off x="1047750" y="4876800"/>
            <a:ext cx="5118050" cy="800100"/>
          </a:xfrm>
          <a:prstGeom prst="rect">
            <a:avLst/>
          </a:prstGeom>
          <a:solidFill>
            <a:srgbClr val="1D1D22"/>
          </a:solidFill>
          <a:ln/>
        </p:spPr>
      </p:sp>
      <p:sp>
        <p:nvSpPr>
          <p:cNvPr id="7" name="Text 5"/>
          <p:cNvSpPr/>
          <p:nvPr/>
        </p:nvSpPr>
        <p:spPr>
          <a:xfrm>
            <a:off x="1257300" y="5029200"/>
            <a:ext cx="4852492" cy="533400"/>
          </a:xfrm>
          <a:prstGeom prst="rect">
            <a:avLst/>
          </a:prstGeom>
          <a:noFill/>
          <a:ln/>
        </p:spPr>
        <p:txBody>
          <a:bodyPr wrap="square" lIns="25400" tIns="25400" rIns="25400" bIns="25400" rtlCol="0" anchor="t">
            <a:normAutofit/>
          </a:bodyPr>
          <a:lstStyle/>
          <a:p>
            <a:pPr algn="l" indent="0" marL="0">
              <a:buNone/>
            </a:pPr>
            <a:r>
              <a:rPr lang="en-US" sz="1875" dirty="0">
                <a:solidFill>
                  <a:srgbClr val="E8E8EC"/>
                </a:solidFill>
                <a:highlight>
                  <a:srgbClr val="1D1D22"/>
                </a:highlight>
                <a:latin typeface="Courier New" pitchFamily="34" charset="0"/>
                <a:ea typeface="Courier New" pitchFamily="34" charset="-122"/>
                <a:cs typeface="Courier New" pitchFamily="34" charset="-120"/>
              </a:rPr>
              <a:t>[sos,g] = butter(9, Wn, 'low'); y = sosfilt(sos, x)*g;</a:t>
            </a:r>
            <a:endParaRPr lang="en-US" sz="1875" dirty="0"/>
          </a:p>
        </p:txBody>
      </p:sp>
      <p:sp>
        <p:nvSpPr>
          <p:cNvPr id="8" name="Text 6"/>
          <p:cNvSpPr/>
          <p:nvPr/>
        </p:nvSpPr>
        <p:spPr>
          <a:xfrm>
            <a:off x="1047750" y="5848350"/>
            <a:ext cx="5271592"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SOS form factors the filter into stable 2nd-order stages — immune to the coefficient ill-conditioning that broke the TF form.</a:t>
            </a:r>
            <a:endParaRPr lang="en-US" sz="2100" dirty="0"/>
          </a:p>
        </p:txBody>
      </p:sp>
      <p:sp>
        <p:nvSpPr>
          <p:cNvPr id="9" name="Shape 7"/>
          <p:cNvSpPr/>
          <p:nvPr/>
        </p:nvSpPr>
        <p:spPr>
          <a:xfrm>
            <a:off x="6584900" y="4029075"/>
            <a:ext cx="5118050" cy="47625"/>
          </a:xfrm>
          <a:prstGeom prst="rect">
            <a:avLst/>
          </a:prstGeom>
          <a:solidFill>
            <a:srgbClr val="8B1D2C"/>
          </a:solidFill>
          <a:ln/>
        </p:spPr>
      </p:sp>
      <p:sp>
        <p:nvSpPr>
          <p:cNvPr id="10" name="Text 8"/>
          <p:cNvSpPr/>
          <p:nvPr/>
        </p:nvSpPr>
        <p:spPr>
          <a:xfrm>
            <a:off x="6584900" y="4343400"/>
            <a:ext cx="5629855" cy="400050"/>
          </a:xfrm>
          <a:prstGeom prst="rect">
            <a:avLst/>
          </a:prstGeom>
          <a:noFill/>
          <a:ln/>
        </p:spPr>
        <p:txBody>
          <a:bodyPr wrap="square" lIns="25400" tIns="25400" rIns="25400" bIns="25400" rtlCol="0" anchor="t">
            <a:normAutofit/>
          </a:bodyPr>
          <a:lstStyle/>
          <a:p>
            <a:pPr algn="l" indent="0" marL="0">
              <a:buNone/>
            </a:pPr>
            <a:r>
              <a:rPr lang="en-US" sz="2400" b="1" dirty="0">
                <a:solidFill>
                  <a:srgbClr val="1D1D22"/>
                </a:solidFill>
                <a:latin typeface="Arial" pitchFamily="34" charset="0"/>
                <a:ea typeface="Arial" pitchFamily="34" charset="-122"/>
                <a:cs typeface="Arial" pitchFamily="34" charset="-120"/>
              </a:rPr>
              <a:t>Lower the order</a:t>
            </a:r>
            <a:endParaRPr lang="en-US" sz="2400" dirty="0"/>
          </a:p>
        </p:txBody>
      </p:sp>
      <p:sp>
        <p:nvSpPr>
          <p:cNvPr id="11" name="Shape 9"/>
          <p:cNvSpPr/>
          <p:nvPr/>
        </p:nvSpPr>
        <p:spPr>
          <a:xfrm>
            <a:off x="6584900" y="4876800"/>
            <a:ext cx="5118050" cy="552450"/>
          </a:xfrm>
          <a:prstGeom prst="rect">
            <a:avLst/>
          </a:prstGeom>
          <a:solidFill>
            <a:srgbClr val="1D1D22"/>
          </a:solidFill>
          <a:ln/>
        </p:spPr>
      </p:sp>
      <p:sp>
        <p:nvSpPr>
          <p:cNvPr id="12" name="Text 10"/>
          <p:cNvSpPr/>
          <p:nvPr/>
        </p:nvSpPr>
        <p:spPr>
          <a:xfrm>
            <a:off x="6794450" y="5029200"/>
            <a:ext cx="4852492" cy="285750"/>
          </a:xfrm>
          <a:prstGeom prst="rect">
            <a:avLst/>
          </a:prstGeom>
          <a:noFill/>
          <a:ln/>
        </p:spPr>
        <p:txBody>
          <a:bodyPr wrap="square" lIns="25400" tIns="25400" rIns="25400" bIns="25400" rtlCol="0" anchor="t">
            <a:normAutofit/>
          </a:bodyPr>
          <a:lstStyle/>
          <a:p>
            <a:pPr algn="l" indent="0" marL="0">
              <a:buNone/>
            </a:pPr>
            <a:r>
              <a:rPr lang="en-US" sz="1875" dirty="0">
                <a:solidFill>
                  <a:srgbClr val="E8E8EC"/>
                </a:solidFill>
                <a:latin typeface="Courier New" pitchFamily="34" charset="0"/>
                <a:ea typeface="Courier New" pitchFamily="34" charset="-122"/>
                <a:cs typeface="Courier New" pitchFamily="34" charset="-120"/>
              </a:rPr>
              <a:t>[b,a] = butter(2, Wn, 'low');</a:t>
            </a:r>
            <a:endParaRPr lang="en-US" sz="1875" dirty="0"/>
          </a:p>
        </p:txBody>
      </p:sp>
      <p:sp>
        <p:nvSpPr>
          <p:cNvPr id="13" name="Text 11"/>
          <p:cNvSpPr/>
          <p:nvPr/>
        </p:nvSpPr>
        <p:spPr>
          <a:xfrm>
            <a:off x="6584900" y="5600700"/>
            <a:ext cx="5271592"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At order 2–3 the same cutoff is numerically safe even in transfer-function form — at the cost of a gentler roll-off.</a:t>
            </a:r>
            <a:endParaRPr lang="en-US" sz="2100" dirty="0"/>
          </a:p>
        </p:txBody>
      </p:sp>
      <p:sp>
        <p:nvSpPr>
          <p:cNvPr id="14" name="Shape 12"/>
          <p:cNvSpPr/>
          <p:nvPr/>
        </p:nvSpPr>
        <p:spPr>
          <a:xfrm>
            <a:off x="12122051" y="4029075"/>
            <a:ext cx="5118199" cy="47625"/>
          </a:xfrm>
          <a:prstGeom prst="rect">
            <a:avLst/>
          </a:prstGeom>
          <a:solidFill>
            <a:srgbClr val="8B1D2C"/>
          </a:solidFill>
          <a:ln/>
        </p:spPr>
      </p:sp>
      <p:sp>
        <p:nvSpPr>
          <p:cNvPr id="15" name="Text 13"/>
          <p:cNvSpPr/>
          <p:nvPr/>
        </p:nvSpPr>
        <p:spPr>
          <a:xfrm>
            <a:off x="12122051" y="4343400"/>
            <a:ext cx="5630019" cy="400050"/>
          </a:xfrm>
          <a:prstGeom prst="rect">
            <a:avLst/>
          </a:prstGeom>
          <a:noFill/>
          <a:ln/>
        </p:spPr>
        <p:txBody>
          <a:bodyPr wrap="square" lIns="25400" tIns="25400" rIns="25400" bIns="25400" rtlCol="0" anchor="t">
            <a:normAutofit/>
          </a:bodyPr>
          <a:lstStyle/>
          <a:p>
            <a:pPr algn="l" indent="0" marL="0">
              <a:buNone/>
            </a:pPr>
            <a:r>
              <a:rPr lang="en-US" sz="2400" b="1" dirty="0">
                <a:solidFill>
                  <a:srgbClr val="1D1D22"/>
                </a:solidFill>
                <a:latin typeface="Arial" pitchFamily="34" charset="0"/>
                <a:ea typeface="Arial" pitchFamily="34" charset="-122"/>
                <a:cs typeface="Arial" pitchFamily="34" charset="-120"/>
              </a:rPr>
              <a:t>Choose a sensible cutoff</a:t>
            </a:r>
            <a:endParaRPr lang="en-US" sz="2400" dirty="0"/>
          </a:p>
        </p:txBody>
      </p:sp>
      <p:sp>
        <p:nvSpPr>
          <p:cNvPr id="16" name="Shape 14"/>
          <p:cNvSpPr/>
          <p:nvPr/>
        </p:nvSpPr>
        <p:spPr>
          <a:xfrm>
            <a:off x="12122051" y="4876800"/>
            <a:ext cx="5118199" cy="552450"/>
          </a:xfrm>
          <a:prstGeom prst="rect">
            <a:avLst/>
          </a:prstGeom>
          <a:solidFill>
            <a:srgbClr val="1D1D22"/>
          </a:solidFill>
          <a:ln/>
        </p:spPr>
      </p:sp>
      <p:sp>
        <p:nvSpPr>
          <p:cNvPr id="17" name="Text 15"/>
          <p:cNvSpPr/>
          <p:nvPr/>
        </p:nvSpPr>
        <p:spPr>
          <a:xfrm>
            <a:off x="12331601" y="5029200"/>
            <a:ext cx="4852645" cy="285750"/>
          </a:xfrm>
          <a:prstGeom prst="rect">
            <a:avLst/>
          </a:prstGeom>
          <a:noFill/>
          <a:ln/>
        </p:spPr>
        <p:txBody>
          <a:bodyPr wrap="square" lIns="25400" tIns="25400" rIns="25400" bIns="25400" rtlCol="0" anchor="t">
            <a:normAutofit/>
          </a:bodyPr>
          <a:lstStyle/>
          <a:p>
            <a:pPr algn="l" indent="0" marL="0">
              <a:buNone/>
            </a:pPr>
            <a:r>
              <a:rPr lang="en-US" sz="1875" dirty="0">
                <a:solidFill>
                  <a:srgbClr val="E8E8EC"/>
                </a:solidFill>
                <a:latin typeface="Courier New" pitchFamily="34" charset="0"/>
                <a:ea typeface="Courier New" pitchFamily="34" charset="-122"/>
                <a:cs typeface="Courier New" pitchFamily="34" charset="-120"/>
              </a:rPr>
              <a:t>Wn = 4000/(Fs/2); % 4 kHz</a:t>
            </a:r>
            <a:endParaRPr lang="en-US" sz="1875" dirty="0"/>
          </a:p>
        </p:txBody>
      </p:sp>
      <p:sp>
        <p:nvSpPr>
          <p:cNvPr id="18" name="Text 16"/>
          <p:cNvSpPr/>
          <p:nvPr/>
        </p:nvSpPr>
        <p:spPr>
          <a:xfrm>
            <a:off x="12122051" y="5600700"/>
            <a:ext cx="5271745" cy="12382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4444C"/>
                </a:solidFill>
                <a:latin typeface="Arial" pitchFamily="34" charset="0"/>
                <a:ea typeface="Arial" pitchFamily="34" charset="-122"/>
                <a:cs typeface="Arial" pitchFamily="34" charset="-120"/>
              </a:rPr>
              <a:t>To keep speech intelligible the cutoff belongs near the top of the speech band (~3–4 kHz), not at 160 Hz.</a:t>
            </a:r>
            <a:endParaRPr lang="en-US" sz="2100" dirty="0"/>
          </a:p>
        </p:txBody>
      </p:sp>
      <p:sp>
        <p:nvSpPr>
          <p:cNvPr id="19" name="Shape 17"/>
          <p:cNvSpPr/>
          <p:nvPr/>
        </p:nvSpPr>
        <p:spPr>
          <a:xfrm>
            <a:off x="1047750" y="9182100"/>
            <a:ext cx="47625" cy="342900"/>
          </a:xfrm>
          <a:prstGeom prst="rect">
            <a:avLst/>
          </a:prstGeom>
          <a:solidFill>
            <a:srgbClr val="D8D8DD"/>
          </a:solidFill>
          <a:ln/>
        </p:spPr>
      </p:sp>
      <p:sp>
        <p:nvSpPr>
          <p:cNvPr id="20" name="Text 18"/>
          <p:cNvSpPr/>
          <p:nvPr/>
        </p:nvSpPr>
        <p:spPr>
          <a:xfrm>
            <a:off x="1343025" y="9182100"/>
            <a:ext cx="1751647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44444C"/>
                </a:solidFill>
                <a:latin typeface="Arial" pitchFamily="34" charset="0"/>
                <a:ea typeface="Arial" pitchFamily="34" charset="-122"/>
                <a:cs typeface="Arial" pitchFamily="34" charset="-120"/>
              </a:rPr>
              <a:t>Good filter choice = matching type, order, cutoff, and implementation form to the signal and the task.</a:t>
            </a:r>
            <a:endParaRPr lang="en-US" sz="2250" dirty="0"/>
          </a:p>
        </p:txBody>
      </p:sp>
      <p:sp>
        <p:nvSpPr>
          <p:cNvPr id="21" name="Text 19"/>
          <p:cNvSpPr/>
          <p:nvPr/>
        </p:nvSpPr>
        <p:spPr>
          <a:xfrm>
            <a:off x="1047750" y="9772650"/>
            <a:ext cx="2729061"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 Ahmed AlHabib</a:t>
            </a:r>
            <a:endParaRPr lang="en-US" sz="1650" dirty="0"/>
          </a:p>
        </p:txBody>
      </p:sp>
      <p:sp>
        <p:nvSpPr>
          <p:cNvPr id="22" name="Text 20"/>
          <p:cNvSpPr/>
          <p:nvPr/>
        </p:nvSpPr>
        <p:spPr>
          <a:xfrm>
            <a:off x="15178683" y="9772650"/>
            <a:ext cx="2267724"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10</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3"/>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8B1D2C"/>
                </a:solidFill>
                <a:latin typeface="Arial" pitchFamily="34" charset="0"/>
                <a:ea typeface="Arial" pitchFamily="34" charset="-122"/>
                <a:cs typeface="Arial" pitchFamily="34" charset="-120"/>
              </a:rPr>
              <a:t>TEAMWORK</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1D1D22"/>
                </a:solidFill>
                <a:latin typeface="Georgia" pitchFamily="34" charset="0"/>
                <a:ea typeface="Georgia" pitchFamily="34" charset="-122"/>
                <a:cs typeface="Georgia" pitchFamily="34" charset="-120"/>
              </a:rPr>
              <a:t>Reflections on the Team</a:t>
            </a:r>
            <a:endParaRPr lang="en-US" sz="4500" dirty="0"/>
          </a:p>
        </p:txBody>
      </p:sp>
      <p:sp>
        <p:nvSpPr>
          <p:cNvPr id="4" name="Shape 2"/>
          <p:cNvSpPr/>
          <p:nvPr/>
        </p:nvSpPr>
        <p:spPr>
          <a:xfrm>
            <a:off x="1047750" y="3786188"/>
            <a:ext cx="5118050" cy="3848100"/>
          </a:xfrm>
          <a:prstGeom prst="rect">
            <a:avLst/>
          </a:prstGeom>
          <a:solidFill>
            <a:srgbClr val="FFFFFF"/>
          </a:solidFill>
          <a:ln w="9525">
            <a:solidFill>
              <a:srgbClr val="D8D8DD"/>
            </a:solidFill>
            <a:prstDash val="solid"/>
          </a:ln>
        </p:spPr>
      </p:sp>
      <p:sp>
        <p:nvSpPr>
          <p:cNvPr id="5" name="Text 3"/>
          <p:cNvSpPr/>
          <p:nvPr/>
        </p:nvSpPr>
        <p:spPr>
          <a:xfrm>
            <a:off x="1438275" y="4214813"/>
            <a:ext cx="4467110" cy="723900"/>
          </a:xfrm>
          <a:prstGeom prst="rect">
            <a:avLst/>
          </a:prstGeom>
          <a:noFill/>
          <a:ln/>
        </p:spPr>
        <p:txBody>
          <a:bodyPr wrap="square" lIns="25400" tIns="25400" rIns="25400" bIns="25400" rtlCol="0" anchor="t">
            <a:normAutofit/>
          </a:bodyPr>
          <a:lstStyle/>
          <a:p>
            <a:pPr algn="l" indent="0" marL="0">
              <a:buNone/>
            </a:pPr>
            <a:r>
              <a:rPr lang="en-US" sz="2250" b="1" dirty="0">
                <a:solidFill>
                  <a:srgbClr val="8B1D2C"/>
                </a:solidFill>
                <a:latin typeface="Arial" pitchFamily="34" charset="0"/>
                <a:ea typeface="Arial" pitchFamily="34" charset="-122"/>
                <a:cs typeface="Arial" pitchFamily="34" charset="-120"/>
              </a:rPr>
              <a:t>Trust the plots, question the code</a:t>
            </a:r>
            <a:endParaRPr lang="en-US" sz="2250" dirty="0"/>
          </a:p>
        </p:txBody>
      </p:sp>
      <p:sp>
        <p:nvSpPr>
          <p:cNvPr id="6" name="Text 4"/>
          <p:cNvSpPr/>
          <p:nvPr/>
        </p:nvSpPr>
        <p:spPr>
          <a:xfrm>
            <a:off x="1438275" y="5091113"/>
            <a:ext cx="4467110" cy="20859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4444C"/>
                </a:solidFill>
                <a:latin typeface="Arial" pitchFamily="34" charset="0"/>
                <a:ea typeface="Arial" pitchFamily="34" charset="-122"/>
                <a:cs typeface="Arial" pitchFamily="34" charset="-120"/>
              </a:rPr>
              <a:t>Our first instinct was that we ran the code wrong. Reading the plots carefully — a 10²⁸⁷ amplitude — proved the code itself was the story.</a:t>
            </a:r>
            <a:endParaRPr lang="en-US" sz="2175" dirty="0"/>
          </a:p>
        </p:txBody>
      </p:sp>
      <p:sp>
        <p:nvSpPr>
          <p:cNvPr id="7" name="Shape 5"/>
          <p:cNvSpPr/>
          <p:nvPr/>
        </p:nvSpPr>
        <p:spPr>
          <a:xfrm>
            <a:off x="6584900" y="3786188"/>
            <a:ext cx="5118050" cy="3848100"/>
          </a:xfrm>
          <a:prstGeom prst="rect">
            <a:avLst/>
          </a:prstGeom>
          <a:solidFill>
            <a:srgbClr val="FFFFFF"/>
          </a:solidFill>
          <a:ln w="9525">
            <a:solidFill>
              <a:srgbClr val="D8D8DD"/>
            </a:solidFill>
            <a:prstDash val="solid"/>
          </a:ln>
        </p:spPr>
      </p:sp>
      <p:sp>
        <p:nvSpPr>
          <p:cNvPr id="8" name="Text 6"/>
          <p:cNvSpPr/>
          <p:nvPr/>
        </p:nvSpPr>
        <p:spPr>
          <a:xfrm>
            <a:off x="6975425" y="4214813"/>
            <a:ext cx="47707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8B1D2C"/>
                </a:solidFill>
                <a:latin typeface="Arial" pitchFamily="34" charset="0"/>
                <a:ea typeface="Arial" pitchFamily="34" charset="-122"/>
                <a:cs typeface="Arial" pitchFamily="34" charset="-120"/>
              </a:rPr>
              <a:t>Debugging as a team</a:t>
            </a:r>
            <a:endParaRPr lang="en-US" sz="2250" dirty="0"/>
          </a:p>
        </p:txBody>
      </p:sp>
      <p:sp>
        <p:nvSpPr>
          <p:cNvPr id="9" name="Text 7"/>
          <p:cNvSpPr/>
          <p:nvPr/>
        </p:nvSpPr>
        <p:spPr>
          <a:xfrm>
            <a:off x="6975425" y="4748213"/>
            <a:ext cx="4467110" cy="2495550"/>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4444C"/>
                </a:solidFill>
                <a:latin typeface="Arial" pitchFamily="34" charset="0"/>
                <a:ea typeface="Arial" pitchFamily="34" charset="-122"/>
                <a:cs typeface="Arial" pitchFamily="34" charset="-120"/>
              </a:rPr>
              <a:t>One member traced the code line by line, one researched Butterworth stability, one reproduced the fix — dividing the investigation made the diagnosis fast.</a:t>
            </a:r>
            <a:endParaRPr lang="en-US" sz="2175" dirty="0"/>
          </a:p>
        </p:txBody>
      </p:sp>
      <p:sp>
        <p:nvSpPr>
          <p:cNvPr id="10" name="Shape 8"/>
          <p:cNvSpPr/>
          <p:nvPr/>
        </p:nvSpPr>
        <p:spPr>
          <a:xfrm>
            <a:off x="12122051" y="3786188"/>
            <a:ext cx="5118199" cy="3848100"/>
          </a:xfrm>
          <a:prstGeom prst="rect">
            <a:avLst/>
          </a:prstGeom>
          <a:solidFill>
            <a:srgbClr val="FFFFFF"/>
          </a:solidFill>
          <a:ln w="9525">
            <a:solidFill>
              <a:srgbClr val="D8D8DD"/>
            </a:solidFill>
            <a:prstDash val="solid"/>
          </a:ln>
        </p:spPr>
      </p:sp>
      <p:sp>
        <p:nvSpPr>
          <p:cNvPr id="11" name="Text 9"/>
          <p:cNvSpPr/>
          <p:nvPr/>
        </p:nvSpPr>
        <p:spPr>
          <a:xfrm>
            <a:off x="12512576" y="4214813"/>
            <a:ext cx="4770864"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8B1D2C"/>
                </a:solidFill>
                <a:latin typeface="Arial" pitchFamily="34" charset="0"/>
                <a:ea typeface="Arial" pitchFamily="34" charset="-122"/>
                <a:cs typeface="Arial" pitchFamily="34" charset="-120"/>
              </a:rPr>
              <a:t>Theory meets floating point</a:t>
            </a:r>
            <a:endParaRPr lang="en-US" sz="2250" dirty="0"/>
          </a:p>
        </p:txBody>
      </p:sp>
      <p:sp>
        <p:nvSpPr>
          <p:cNvPr id="12" name="Text 10"/>
          <p:cNvSpPr/>
          <p:nvPr/>
        </p:nvSpPr>
        <p:spPr>
          <a:xfrm>
            <a:off x="12512576" y="4748213"/>
            <a:ext cx="4467264" cy="20859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44444C"/>
                </a:solidFill>
                <a:latin typeface="Arial" pitchFamily="34" charset="0"/>
                <a:ea typeface="Arial" pitchFamily="34" charset="-122"/>
                <a:cs typeface="Arial" pitchFamily="34" charset="-120"/>
              </a:rPr>
              <a:t>A filter that is stable on paper can diverge in double precision. This project connected classroom theory to real numerical engineering.</a:t>
            </a:r>
            <a:endParaRPr lang="en-US" sz="2175" dirty="0"/>
          </a:p>
        </p:txBody>
      </p:sp>
      <p:sp>
        <p:nvSpPr>
          <p:cNvPr id="13" name="Text 11"/>
          <p:cNvSpPr/>
          <p:nvPr/>
        </p:nvSpPr>
        <p:spPr>
          <a:xfrm>
            <a:off x="1047750" y="9772650"/>
            <a:ext cx="2523604"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Presenters: All members</a:t>
            </a:r>
            <a:endParaRPr lang="en-US" sz="1650" dirty="0"/>
          </a:p>
        </p:txBody>
      </p:sp>
      <p:sp>
        <p:nvSpPr>
          <p:cNvPr id="14" name="Text 12"/>
          <p:cNvSpPr/>
          <p:nvPr/>
        </p:nvSpPr>
        <p:spPr>
          <a:xfrm>
            <a:off x="15194310" y="9772650"/>
            <a:ext cx="2250534"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11</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B1D2C"/>
        </a:solidFill>
      </p:bgPr>
    </p:bg>
    <p:spTree>
      <p:nvGrpSpPr>
        <p:cNvPr id="1" name=""/>
        <p:cNvGrpSpPr/>
        <p:nvPr/>
      </p:nvGrpSpPr>
      <p:grpSpPr>
        <a:xfrm>
          <a:off x="0" y="0"/>
          <a:ext cx="0" cy="0"/>
          <a:chOff x="0" y="0"/>
          <a:chExt cx="0" cy="0"/>
        </a:xfrm>
      </p:grpSpPr>
      <p:sp>
        <p:nvSpPr>
          <p:cNvPr id="2" name="Text 0"/>
          <p:cNvSpPr/>
          <p:nvPr/>
        </p:nvSpPr>
        <p:spPr>
          <a:xfrm>
            <a:off x="1047750" y="857250"/>
            <a:ext cx="17811750" cy="314325"/>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FFFF">
                    <a:alpha val="80000"/>
                  </a:srgbClr>
                </a:solidFill>
                <a:latin typeface="Arial" pitchFamily="34" charset="0"/>
                <a:ea typeface="Arial" pitchFamily="34" charset="-122"/>
                <a:cs typeface="Arial" pitchFamily="34" charset="-120"/>
              </a:rPr>
              <a:t>CLOSING</a:t>
            </a:r>
            <a:endParaRPr lang="en-US" sz="1800" dirty="0"/>
          </a:p>
        </p:txBody>
      </p:sp>
      <p:sp>
        <p:nvSpPr>
          <p:cNvPr id="3" name="Text 1"/>
          <p:cNvSpPr/>
          <p:nvPr/>
        </p:nvSpPr>
        <p:spPr>
          <a:xfrm>
            <a:off x="1047750" y="1228725"/>
            <a:ext cx="17811750" cy="704850"/>
          </a:xfrm>
          <a:prstGeom prst="rect">
            <a:avLst/>
          </a:prstGeom>
          <a:noFill/>
          <a:ln/>
        </p:spPr>
        <p:txBody>
          <a:bodyPr wrap="square" lIns="25400" tIns="25400" rIns="25400" bIns="25400" rtlCol="0" anchor="t">
            <a:normAutofit/>
          </a:bodyPr>
          <a:lstStyle/>
          <a:p>
            <a:pPr algn="l" indent="0" marL="0">
              <a:buNone/>
            </a:pPr>
            <a:r>
              <a:rPr lang="en-US" sz="4500" b="1" dirty="0">
                <a:solidFill>
                  <a:srgbClr val="FFFFFF"/>
                </a:solidFill>
                <a:latin typeface="Georgia" pitchFamily="34" charset="0"/>
                <a:ea typeface="Georgia" pitchFamily="34" charset="-122"/>
                <a:cs typeface="Georgia" pitchFamily="34" charset="-120"/>
              </a:rPr>
              <a:t>Conclusion and Future Remarks</a:t>
            </a:r>
            <a:endParaRPr lang="en-US" sz="4500" dirty="0"/>
          </a:p>
        </p:txBody>
      </p:sp>
      <p:sp>
        <p:nvSpPr>
          <p:cNvPr id="4" name="Text 2"/>
          <p:cNvSpPr/>
          <p:nvPr/>
        </p:nvSpPr>
        <p:spPr>
          <a:xfrm>
            <a:off x="1047750" y="4652963"/>
            <a:ext cx="322511"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b="1" dirty="0">
                <a:solidFill>
                  <a:srgbClr val="FFFFFF"/>
                </a:solidFill>
                <a:latin typeface="Arial" pitchFamily="34" charset="0"/>
                <a:ea typeface="Arial" pitchFamily="34" charset="-122"/>
                <a:cs typeface="Arial" pitchFamily="34" charset="-120"/>
              </a:rPr>
              <a:t>1.</a:t>
            </a:r>
            <a:endParaRPr lang="en-US" sz="2325" dirty="0"/>
          </a:p>
        </p:txBody>
      </p:sp>
      <p:sp>
        <p:nvSpPr>
          <p:cNvPr id="5" name="Text 3"/>
          <p:cNvSpPr/>
          <p:nvPr/>
        </p:nvSpPr>
        <p:spPr>
          <a:xfrm>
            <a:off x="1484561" y="4652963"/>
            <a:ext cx="8165610"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FFFFFF"/>
                </a:solidFill>
                <a:latin typeface="Arial" pitchFamily="34" charset="0"/>
                <a:ea typeface="Arial" pitchFamily="34" charset="-122"/>
                <a:cs typeface="Arial" pitchFamily="34" charset="-120"/>
              </a:rPr>
              <a:t>The analysis stages of Code1 work correctly: AudioA's spectrum sits below 8 kHz, so Fs = 48 kHz satisfies the sampling theorem.</a:t>
            </a:r>
            <a:endParaRPr lang="en-US" sz="2325" dirty="0"/>
          </a:p>
        </p:txBody>
      </p:sp>
      <p:sp>
        <p:nvSpPr>
          <p:cNvPr id="6" name="Text 4"/>
          <p:cNvSpPr/>
          <p:nvPr/>
        </p:nvSpPr>
        <p:spPr>
          <a:xfrm>
            <a:off x="1047750" y="6310313"/>
            <a:ext cx="322511"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b="1" dirty="0">
                <a:solidFill>
                  <a:srgbClr val="FFFFFF"/>
                </a:solidFill>
                <a:latin typeface="Arial" pitchFamily="34" charset="0"/>
                <a:ea typeface="Arial" pitchFamily="34" charset="-122"/>
                <a:cs typeface="Arial" pitchFamily="34" charset="-120"/>
              </a:rPr>
              <a:t>2.</a:t>
            </a:r>
            <a:endParaRPr lang="en-US" sz="2325" dirty="0"/>
          </a:p>
        </p:txBody>
      </p:sp>
      <p:sp>
        <p:nvSpPr>
          <p:cNvPr id="15" name="Text 5"/>
          <p:cNvSpPr/>
          <p:nvPr/>
        </p:nvSpPr>
        <p:spPr>
          <a:xfrm>
            <a:off x="1484561" y="6310313"/>
            <a:ext cx="8165610"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FFFFFF"/>
                </a:solidFill>
                <a:latin typeface="Arial" pitchFamily="34" charset="0"/>
                <a:ea typeface="Arial" pitchFamily="34" charset="-122"/>
                <a:cs typeface="Arial" pitchFamily="34" charset="-120"/>
              </a:rPr>
              <a:t>The filtering stage fails: the 9th-order Butterworth design at a ≈0.0067π cutoff places a pole just outside the unit circle, so the output diverges to ≈10²⁸⁷ instead of a clean low-pass result.</a:t>
            </a:r>
            <a:endParaRPr lang="en-US" sz="2325" dirty="0"/>
          </a:p>
        </p:txBody>
      </p:sp>
      <p:sp>
        <p:nvSpPr>
          <p:cNvPr id="16" name="Text 6"/>
          <p:cNvSpPr/>
          <p:nvPr/>
        </p:nvSpPr>
        <p:spPr>
          <a:xfrm>
            <a:off x="1047750" y="7967663"/>
            <a:ext cx="322511"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b="1" dirty="0">
                <a:solidFill>
                  <a:srgbClr val="FFFFFF"/>
                </a:solidFill>
                <a:latin typeface="Arial" pitchFamily="34" charset="0"/>
                <a:ea typeface="Arial" pitchFamily="34" charset="-122"/>
                <a:cs typeface="Arial" pitchFamily="34" charset="-120"/>
              </a:rPr>
              <a:t>3.</a:t>
            </a:r>
            <a:endParaRPr lang="en-US" sz="2325" dirty="0"/>
          </a:p>
        </p:txBody>
      </p:sp>
      <p:sp>
        <p:nvSpPr>
          <p:cNvPr id="17" name="Text 7"/>
          <p:cNvSpPr/>
          <p:nvPr/>
        </p:nvSpPr>
        <p:spPr>
          <a:xfrm>
            <a:off x="1484561" y="7967663"/>
            <a:ext cx="8165610" cy="1409700"/>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FFFFFF"/>
                </a:solidFill>
                <a:latin typeface="Arial" pitchFamily="34" charset="0"/>
                <a:ea typeface="Arial" pitchFamily="34" charset="-122"/>
                <a:cs typeface="Arial" pitchFamily="34" charset="-120"/>
              </a:rPr>
              <a:t>Future work: re-run the analysis with a corrected filter (second-order sections, a lower order, or a cutoff nearer 3–4 kHz) and compare the recovered audio quality against the original recording.</a:t>
            </a:r>
            <a:endParaRPr lang="en-US" sz="2325" dirty="0"/>
          </a:p>
        </p:txBody>
      </p:sp>
      <p:sp>
        <p:nvSpPr>
          <p:cNvPr id="18" name="Text 8"/>
          <p:cNvSpPr/>
          <p:nvPr/>
        </p:nvSpPr>
        <p:spPr>
          <a:xfrm>
            <a:off x="1047750" y="9772650"/>
            <a:ext cx="2523604"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Presenters: All members</a:t>
            </a:r>
            <a:endParaRPr lang="en-US" sz="1650" dirty="0"/>
          </a:p>
        </p:txBody>
      </p:sp>
      <p:sp>
        <p:nvSpPr>
          <p:cNvPr id="19" name="Text 9"/>
          <p:cNvSpPr/>
          <p:nvPr/>
        </p:nvSpPr>
        <p:spPr>
          <a:xfrm>
            <a:off x="15194310" y="9772650"/>
            <a:ext cx="2250534"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8A94"/>
                </a:solidFill>
                <a:latin typeface="Arial" pitchFamily="34" charset="0"/>
                <a:ea typeface="Arial" pitchFamily="34" charset="-122"/>
                <a:cs typeface="Arial" pitchFamily="34" charset="-120"/>
              </a:rPr>
              <a:t>EE-CE 301 · PD2 · 12</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2026-07-05T11:14:54Z</dcterms:created>
  <dcterms:modified xsi:type="dcterms:W3CDTF">2026-07-05T11:14:54Z</dcterms:modified>
</cp:coreProperties>
</file>